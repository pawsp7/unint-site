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01</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pic>
        <p:nvPicPr>
          <p:cNvPr id="6" name="Picture 5" descr="jellyfish.png"/>
          <p:cNvPicPr>
            <a:picLocks noChangeAspect="1"/>
          </p:cNvPicPr>
          <p:nvPr/>
        </p:nvPicPr>
        <p:blipFill>
          <a:blip r:embed="rId4"/>
          <a:stretch>
            <a:fillRect/>
          </a:stretch>
        </p:blipFill>
        <p:spPr>
          <a:xfrm>
            <a:off x="2788920" y="1234440"/>
            <a:ext cx="2016557" cy="2194560"/>
          </a:xfrm>
          <a:prstGeom prst="rect">
            <a:avLst/>
          </a:prstGeom>
        </p:spPr>
      </p:pic>
      <p:pic>
        <p:nvPicPr>
          <p:cNvPr id="7" name="Picture 6" descr="wordmark.png"/>
          <p:cNvPicPr>
            <a:picLocks noChangeAspect="1"/>
          </p:cNvPicPr>
          <p:nvPr/>
        </p:nvPicPr>
        <p:blipFill>
          <a:blip r:embed="rId5"/>
          <a:stretch>
            <a:fillRect/>
          </a:stretch>
        </p:blipFill>
        <p:spPr>
          <a:xfrm>
            <a:off x="1737360" y="3520440"/>
            <a:ext cx="4114800" cy="1821441"/>
          </a:xfrm>
          <a:prstGeom prst="rect">
            <a:avLst/>
          </a:prstGeom>
        </p:spPr>
      </p:pic>
      <p:sp>
        <p:nvSpPr>
          <p:cNvPr id="8" name="TextBox 7"/>
          <p:cNvSpPr txBox="1"/>
          <p:nvPr/>
        </p:nvSpPr>
        <p:spPr>
          <a:xfrm>
            <a:off x="365760" y="5074920"/>
            <a:ext cx="6858000" cy="457200"/>
          </a:xfrm>
          <a:prstGeom prst="rect">
            <a:avLst/>
          </a:prstGeom>
          <a:noFill/>
        </p:spPr>
        <p:txBody>
          <a:bodyPr wrap="square">
            <a:spAutoFit/>
          </a:bodyPr>
          <a:lstStyle/>
          <a:p>
            <a:pPr algn="ctr"/>
            <a:r>
              <a:rPr sz="2800" b="1" i="0">
                <a:solidFill>
                  <a:srgbClr val="030205"/>
                </a:solidFill>
                <a:latin typeface="Inter"/>
              </a:rPr>
              <a:t>Club Charter</a:t>
            </a:r>
          </a:p>
        </p:txBody>
      </p:sp>
      <p:sp>
        <p:nvSpPr>
          <p:cNvPr id="9" name="TextBox 8"/>
          <p:cNvSpPr txBox="1"/>
          <p:nvPr/>
        </p:nvSpPr>
        <p:spPr>
          <a:xfrm>
            <a:off x="365760" y="5577840"/>
            <a:ext cx="6858000" cy="320040"/>
          </a:xfrm>
          <a:prstGeom prst="rect">
            <a:avLst/>
          </a:prstGeom>
          <a:noFill/>
        </p:spPr>
        <p:txBody>
          <a:bodyPr wrap="square">
            <a:spAutoFit/>
          </a:bodyPr>
          <a:lstStyle/>
          <a:p>
            <a:pPr algn="ctr"/>
            <a:r>
              <a:rPr sz="1400" b="1" i="0">
                <a:solidFill>
                  <a:srgbClr val="591337"/>
                </a:solidFill>
                <a:latin typeface="JetBrains Mono"/>
              </a:rPr>
              <a:t>2026–27</a:t>
            </a:r>
          </a:p>
        </p:txBody>
      </p:sp>
      <p:sp>
        <p:nvSpPr>
          <p:cNvPr id="10" name="TextBox 9"/>
          <p:cNvSpPr txBox="1"/>
          <p:nvPr/>
        </p:nvSpPr>
        <p:spPr>
          <a:xfrm>
            <a:off x="365760" y="5943600"/>
            <a:ext cx="6858000" cy="320040"/>
          </a:xfrm>
          <a:prstGeom prst="rect">
            <a:avLst/>
          </a:prstGeom>
          <a:noFill/>
        </p:spPr>
        <p:txBody>
          <a:bodyPr wrap="square">
            <a:spAutoFit/>
          </a:bodyPr>
          <a:lstStyle/>
          <a:p>
            <a:pPr algn="ctr"/>
            <a:r>
              <a:rPr sz="1200" b="0" i="1">
                <a:solidFill>
                  <a:srgbClr val="5A5A5A"/>
                </a:solidFill>
                <a:latin typeface="Inter"/>
              </a:rPr>
              <a:t>Accessible  ·  Untapped  ·  Integrated  ·  Human</a:t>
            </a:r>
          </a:p>
        </p:txBody>
      </p:sp>
      <p:pic>
        <p:nvPicPr>
          <p:cNvPr id="11" name="Picture 10" descr="tagline.png"/>
          <p:cNvPicPr>
            <a:picLocks noChangeAspect="1"/>
          </p:cNvPicPr>
          <p:nvPr/>
        </p:nvPicPr>
        <p:blipFill>
          <a:blip r:embed="rId6"/>
          <a:stretch>
            <a:fillRect/>
          </a:stretch>
        </p:blipFill>
        <p:spPr>
          <a:xfrm>
            <a:off x="2194560" y="6446520"/>
            <a:ext cx="3200400" cy="123092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02</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97280"/>
            <a:ext cx="6309360" cy="365760"/>
          </a:xfrm>
          <a:prstGeom prst="rect">
            <a:avLst/>
          </a:prstGeom>
          <a:noFill/>
        </p:spPr>
        <p:txBody>
          <a:bodyPr wrap="square">
            <a:spAutoFit/>
          </a:bodyPr>
          <a:lstStyle/>
          <a:p>
            <a:pPr algn="ctr"/>
            <a:r>
              <a:rPr sz="2200" b="1" i="0">
                <a:solidFill>
                  <a:srgbClr val="030205"/>
                </a:solidFill>
                <a:latin typeface="Inter"/>
              </a:rPr>
              <a:t>Contents</a:t>
            </a:r>
          </a:p>
        </p:txBody>
      </p:sp>
      <p:sp>
        <p:nvSpPr>
          <p:cNvPr id="7" name="TextBox 6"/>
          <p:cNvSpPr txBox="1"/>
          <p:nvPr/>
        </p:nvSpPr>
        <p:spPr>
          <a:xfrm>
            <a:off x="640080" y="1737360"/>
            <a:ext cx="6309360" cy="6400800"/>
          </a:xfrm>
          <a:prstGeom prst="rect">
            <a:avLst/>
          </a:prstGeom>
          <a:noFill/>
        </p:spPr>
        <p:txBody>
          <a:bodyPr wrap="square">
            <a:spAutoFit/>
          </a:bodyPr>
          <a:lstStyle/>
          <a:p>
            <a:pPr>
              <a:spcAft>
                <a:spcPts val="400"/>
              </a:spcAft>
              <a:defRPr sz="1600">
                <a:solidFill>
                  <a:srgbClr val="030205"/>
                </a:solidFill>
                <a:latin typeface="Inter"/>
              </a:defRPr>
            </a:pPr>
            <a:r>
              <a:t>Unnatural Intelligence Club Charter</a:t>
            </a:r>
          </a:p>
          <a:p>
            <a:pPr>
              <a:spcAft>
                <a:spcPts val="400"/>
              </a:spcAft>
              <a:defRPr sz="1600">
                <a:solidFill>
                  <a:srgbClr val="030205"/>
                </a:solidFill>
                <a:latin typeface="Inter"/>
              </a:defRPr>
            </a:pPr>
            <a:r>
              <a:t>Mission Statement</a:t>
            </a:r>
          </a:p>
          <a:p>
            <a:pPr>
              <a:spcAft>
                <a:spcPts val="400"/>
              </a:spcAft>
              <a:defRPr sz="1600">
                <a:solidFill>
                  <a:srgbClr val="030205"/>
                </a:solidFill>
                <a:latin typeface="Inter"/>
              </a:defRPr>
            </a:pPr>
            <a:r>
              <a:t>The Basis</a:t>
            </a:r>
          </a:p>
          <a:p>
            <a:pPr>
              <a:spcAft>
                <a:spcPts val="400"/>
              </a:spcAft>
              <a:defRPr sz="1600">
                <a:solidFill>
                  <a:srgbClr val="030205"/>
                </a:solidFill>
                <a:latin typeface="Inter"/>
              </a:defRPr>
            </a:pPr>
            <a:r>
              <a:t>Goals</a:t>
            </a:r>
          </a:p>
          <a:p>
            <a:pPr>
              <a:spcAft>
                <a:spcPts val="400"/>
              </a:spcAft>
              <a:defRPr sz="1600">
                <a:solidFill>
                  <a:srgbClr val="030205"/>
                </a:solidFill>
                <a:latin typeface="Inter"/>
              </a:defRPr>
            </a:pPr>
            <a:r>
              <a:t>How We Operate</a:t>
            </a:r>
          </a:p>
          <a:p>
            <a:pPr>
              <a:spcAft>
                <a:spcPts val="400"/>
              </a:spcAft>
              <a:defRPr sz="1600">
                <a:solidFill>
                  <a:srgbClr val="030205"/>
                </a:solidFill>
                <a:latin typeface="Inter"/>
              </a:defRPr>
            </a:pPr>
            <a:r>
              <a:t>Executive Roles &amp; Responsibilities</a:t>
            </a:r>
          </a:p>
          <a:p>
            <a:pPr>
              <a:spcAft>
                <a:spcPts val="400"/>
              </a:spcAft>
              <a:defRPr sz="1600">
                <a:solidFill>
                  <a:srgbClr val="030205"/>
                </a:solidFill>
                <a:latin typeface="Inter"/>
              </a:defRPr>
            </a:pPr>
            <a:r>
              <a:t>Event Concepts</a:t>
            </a:r>
          </a:p>
          <a:p>
            <a:pPr>
              <a:spcAft>
                <a:spcPts val="400"/>
              </a:spcAft>
              <a:defRPr sz="1600">
                <a:solidFill>
                  <a:srgbClr val="030205"/>
                </a:solidFill>
                <a:latin typeface="Inter"/>
              </a:defRPr>
            </a:pPr>
            <a:r>
              <a:t>This Year on Campus</a:t>
            </a:r>
          </a:p>
          <a:p>
            <a:pPr>
              <a:spcAft>
                <a:spcPts val="400"/>
              </a:spcAft>
              <a:defRPr sz="1600">
                <a:solidFill>
                  <a:srgbClr val="030205"/>
                </a:solidFill>
                <a:latin typeface="Inter"/>
              </a:defRPr>
            </a:pPr>
            <a:r>
              <a:t>Style Guide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03</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188720"/>
            <a:ext cx="6309360" cy="411480"/>
          </a:xfrm>
          <a:prstGeom prst="rect">
            <a:avLst/>
          </a:prstGeom>
          <a:noFill/>
        </p:spPr>
        <p:txBody>
          <a:bodyPr wrap="square">
            <a:spAutoFit/>
          </a:bodyPr>
          <a:lstStyle/>
          <a:p>
            <a:pPr algn="ctr"/>
            <a:r>
              <a:rPr sz="2400" b="1" i="0">
                <a:solidFill>
                  <a:srgbClr val="030205"/>
                </a:solidFill>
                <a:latin typeface="Inter"/>
              </a:rPr>
              <a:t>Mission Statement</a:t>
            </a:r>
          </a:p>
        </p:txBody>
      </p:sp>
      <p:sp>
        <p:nvSpPr>
          <p:cNvPr id="7" name="TextBox 6"/>
          <p:cNvSpPr txBox="1"/>
          <p:nvPr/>
        </p:nvSpPr>
        <p:spPr>
          <a:xfrm>
            <a:off x="685800" y="1691640"/>
            <a:ext cx="6217920" cy="1051560"/>
          </a:xfrm>
          <a:prstGeom prst="rect">
            <a:avLst/>
          </a:prstGeom>
          <a:noFill/>
        </p:spPr>
        <p:txBody>
          <a:bodyPr wrap="square">
            <a:spAutoFit/>
          </a:bodyPr>
          <a:lstStyle/>
          <a:p>
            <a:pPr algn="ctr"/>
            <a:r>
              <a:rPr sz="1300" b="0" i="0">
                <a:solidFill>
                  <a:srgbClr val="030205"/>
                </a:solidFill>
                <a:latin typeface="Inter"/>
              </a:rPr>
              <a:t>Unnatural Intelligence offers accessible means to learn, explore, and integrate AI meaningfully into our professional and personal lives. AI is here. Stay ahead of the curve — rather than left behind like your grandparents with a smartphone.</a:t>
            </a:r>
          </a:p>
        </p:txBody>
      </p:sp>
      <p:sp>
        <p:nvSpPr>
          <p:cNvPr id="8" name="TextBox 7"/>
          <p:cNvSpPr txBox="1"/>
          <p:nvPr/>
        </p:nvSpPr>
        <p:spPr>
          <a:xfrm>
            <a:off x="685800" y="2788920"/>
            <a:ext cx="6217920" cy="1143000"/>
          </a:xfrm>
          <a:prstGeom prst="rect">
            <a:avLst/>
          </a:prstGeom>
          <a:noFill/>
        </p:spPr>
        <p:txBody>
          <a:bodyPr wrap="square">
            <a:spAutoFit/>
          </a:bodyPr>
          <a:lstStyle/>
          <a:p>
            <a:pPr algn="ctr"/>
            <a:r>
              <a:rPr sz="1300" b="0" i="1">
                <a:solidFill>
                  <a:srgbClr val="591337"/>
                </a:solidFill>
                <a:latin typeface="Inter"/>
              </a:rPr>
              <a:t>“Pursue the untapped potential of AI. Explore integrating AI into our daily and professional workflows. Optimize token usage while still retaining that mask of humanity.”</a:t>
            </a:r>
          </a:p>
        </p:txBody>
      </p:sp>
      <p:sp>
        <p:nvSpPr>
          <p:cNvPr id="9" name="TextBox 8"/>
          <p:cNvSpPr txBox="1"/>
          <p:nvPr/>
        </p:nvSpPr>
        <p:spPr>
          <a:xfrm>
            <a:off x="685800" y="3977639"/>
            <a:ext cx="6217920" cy="868680"/>
          </a:xfrm>
          <a:prstGeom prst="rect">
            <a:avLst/>
          </a:prstGeom>
          <a:noFill/>
        </p:spPr>
        <p:txBody>
          <a:bodyPr wrap="square">
            <a:spAutoFit/>
          </a:bodyPr>
          <a:lstStyle/>
          <a:p>
            <a:pPr algn="ctr"/>
            <a:r>
              <a:rPr sz="1300" b="0" i="0">
                <a:solidFill>
                  <a:srgbClr val="030205"/>
                </a:solidFill>
                <a:latin typeface="Inter"/>
              </a:rPr>
              <a:t>We destigmatise AI and keep an open platform for the conflicting feelings that come with using it. Both things can be true: it is unnatural, and it is useful. Generated by AI, perfected by humans.</a:t>
            </a:r>
          </a:p>
        </p:txBody>
      </p:sp>
      <p:sp>
        <p:nvSpPr>
          <p:cNvPr id="10" name="Rounded Rectangle 9"/>
          <p:cNvSpPr/>
          <p:nvPr/>
        </p:nvSpPr>
        <p:spPr>
          <a:xfrm>
            <a:off x="708660" y="4983480"/>
            <a:ext cx="1938528" cy="2148840"/>
          </a:xfrm>
          <a:prstGeom prst="roundRect">
            <a:avLst/>
          </a:prstGeom>
          <a:solidFill>
            <a:srgbClr val="FFFFFF"/>
          </a:solidFill>
          <a:ln>
            <a:solidFill>
              <a:srgbClr val="D7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on-spark.png"/>
          <p:cNvPicPr>
            <a:picLocks noChangeAspect="1"/>
          </p:cNvPicPr>
          <p:nvPr/>
        </p:nvPicPr>
        <p:blipFill>
          <a:blip r:embed="rId4"/>
          <a:stretch>
            <a:fillRect/>
          </a:stretch>
        </p:blipFill>
        <p:spPr>
          <a:xfrm>
            <a:off x="1495044" y="5148072"/>
            <a:ext cx="365760" cy="365760"/>
          </a:xfrm>
          <a:prstGeom prst="rect">
            <a:avLst/>
          </a:prstGeom>
        </p:spPr>
      </p:pic>
      <p:sp>
        <p:nvSpPr>
          <p:cNvPr id="12" name="TextBox 11"/>
          <p:cNvSpPr txBox="1"/>
          <p:nvPr/>
        </p:nvSpPr>
        <p:spPr>
          <a:xfrm>
            <a:off x="873252" y="5678424"/>
            <a:ext cx="1609344" cy="457200"/>
          </a:xfrm>
          <a:prstGeom prst="rect">
            <a:avLst/>
          </a:prstGeom>
          <a:noFill/>
        </p:spPr>
        <p:txBody>
          <a:bodyPr wrap="square">
            <a:spAutoFit/>
          </a:bodyPr>
          <a:lstStyle/>
          <a:p>
            <a:pPr algn="ctr"/>
            <a:r>
              <a:rPr sz="1100" b="1" i="0">
                <a:solidFill>
                  <a:srgbClr val="030205"/>
                </a:solidFill>
                <a:latin typeface="Inter"/>
              </a:rPr>
              <a:t>Untapped potential</a:t>
            </a:r>
          </a:p>
        </p:txBody>
      </p:sp>
      <p:sp>
        <p:nvSpPr>
          <p:cNvPr id="13" name="TextBox 12"/>
          <p:cNvSpPr txBox="1"/>
          <p:nvPr/>
        </p:nvSpPr>
        <p:spPr>
          <a:xfrm>
            <a:off x="873252" y="6208776"/>
            <a:ext cx="1609344" cy="1005840"/>
          </a:xfrm>
          <a:prstGeom prst="rect">
            <a:avLst/>
          </a:prstGeom>
          <a:noFill/>
        </p:spPr>
        <p:txBody>
          <a:bodyPr wrap="square">
            <a:spAutoFit/>
          </a:bodyPr>
          <a:lstStyle/>
          <a:p>
            <a:pPr algn="ctr"/>
            <a:r>
              <a:rPr sz="1000" b="0" i="0">
                <a:solidFill>
                  <a:srgbClr val="5A5A5A"/>
                </a:solidFill>
                <a:latin typeface="Inter"/>
              </a:rPr>
              <a:t>Find the uses default chat never gets asked — the button nobody opens, the shop-floor photo, the one recurring task that still has no assistant.</a:t>
            </a:r>
          </a:p>
        </p:txBody>
      </p:sp>
      <p:sp>
        <p:nvSpPr>
          <p:cNvPr id="14" name="Rounded Rectangle 13"/>
          <p:cNvSpPr/>
          <p:nvPr/>
        </p:nvSpPr>
        <p:spPr>
          <a:xfrm>
            <a:off x="2811780" y="4983480"/>
            <a:ext cx="1938528" cy="2148840"/>
          </a:xfrm>
          <a:prstGeom prst="roundRect">
            <a:avLst/>
          </a:prstGeom>
          <a:solidFill>
            <a:srgbClr val="FFFFFF"/>
          </a:solidFill>
          <a:ln>
            <a:solidFill>
              <a:srgbClr val="D7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workflow.png"/>
          <p:cNvPicPr>
            <a:picLocks noChangeAspect="1"/>
          </p:cNvPicPr>
          <p:nvPr/>
        </p:nvPicPr>
        <p:blipFill>
          <a:blip r:embed="rId5"/>
          <a:stretch>
            <a:fillRect/>
          </a:stretch>
        </p:blipFill>
        <p:spPr>
          <a:xfrm>
            <a:off x="3598164" y="5148072"/>
            <a:ext cx="365760" cy="365760"/>
          </a:xfrm>
          <a:prstGeom prst="rect">
            <a:avLst/>
          </a:prstGeom>
        </p:spPr>
      </p:pic>
      <p:sp>
        <p:nvSpPr>
          <p:cNvPr id="16" name="TextBox 15"/>
          <p:cNvSpPr txBox="1"/>
          <p:nvPr/>
        </p:nvSpPr>
        <p:spPr>
          <a:xfrm>
            <a:off x="2976372" y="5678424"/>
            <a:ext cx="1609344" cy="457200"/>
          </a:xfrm>
          <a:prstGeom prst="rect">
            <a:avLst/>
          </a:prstGeom>
          <a:noFill/>
        </p:spPr>
        <p:txBody>
          <a:bodyPr wrap="square">
            <a:spAutoFit/>
          </a:bodyPr>
          <a:lstStyle/>
          <a:p>
            <a:pPr algn="ctr"/>
            <a:r>
              <a:rPr sz="1100" b="1" i="0">
                <a:solidFill>
                  <a:srgbClr val="030205"/>
                </a:solidFill>
                <a:latin typeface="Inter"/>
              </a:rPr>
              <a:t>Workflow integration</a:t>
            </a:r>
          </a:p>
        </p:txBody>
      </p:sp>
      <p:sp>
        <p:nvSpPr>
          <p:cNvPr id="17" name="TextBox 16"/>
          <p:cNvSpPr txBox="1"/>
          <p:nvPr/>
        </p:nvSpPr>
        <p:spPr>
          <a:xfrm>
            <a:off x="2976372" y="6208776"/>
            <a:ext cx="1609344" cy="1005840"/>
          </a:xfrm>
          <a:prstGeom prst="rect">
            <a:avLst/>
          </a:prstGeom>
          <a:noFill/>
        </p:spPr>
        <p:txBody>
          <a:bodyPr wrap="square">
            <a:spAutoFit/>
          </a:bodyPr>
          <a:lstStyle/>
          <a:p>
            <a:pPr algn="ctr"/>
            <a:r>
              <a:rPr sz="1000" b="0" i="0">
                <a:solidFill>
                  <a:srgbClr val="5A5A5A"/>
                </a:solidFill>
                <a:latin typeface="Inter"/>
              </a:rPr>
              <a:t>Fold AI into Tuesday, not into a demo. Class, practicum, job search, client email, shop estimates — keep only what you still open next week.</a:t>
            </a:r>
          </a:p>
        </p:txBody>
      </p:sp>
      <p:sp>
        <p:nvSpPr>
          <p:cNvPr id="18" name="Rounded Rectangle 17"/>
          <p:cNvSpPr/>
          <p:nvPr/>
        </p:nvSpPr>
        <p:spPr>
          <a:xfrm>
            <a:off x="4914900" y="4983480"/>
            <a:ext cx="1938528" cy="2148840"/>
          </a:xfrm>
          <a:prstGeom prst="roundRect">
            <a:avLst/>
          </a:prstGeom>
          <a:solidFill>
            <a:srgbClr val="FFFFFF"/>
          </a:solidFill>
          <a:ln>
            <a:solidFill>
              <a:srgbClr val="D7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mask.png"/>
          <p:cNvPicPr>
            <a:picLocks noChangeAspect="1"/>
          </p:cNvPicPr>
          <p:nvPr/>
        </p:nvPicPr>
        <p:blipFill>
          <a:blip r:embed="rId6"/>
          <a:stretch>
            <a:fillRect/>
          </a:stretch>
        </p:blipFill>
        <p:spPr>
          <a:xfrm>
            <a:off x="5701284" y="5148072"/>
            <a:ext cx="365760" cy="365760"/>
          </a:xfrm>
          <a:prstGeom prst="rect">
            <a:avLst/>
          </a:prstGeom>
        </p:spPr>
      </p:pic>
      <p:sp>
        <p:nvSpPr>
          <p:cNvPr id="20" name="TextBox 19"/>
          <p:cNvSpPr txBox="1"/>
          <p:nvPr/>
        </p:nvSpPr>
        <p:spPr>
          <a:xfrm>
            <a:off x="5079492" y="5678424"/>
            <a:ext cx="1609344" cy="457200"/>
          </a:xfrm>
          <a:prstGeom prst="rect">
            <a:avLst/>
          </a:prstGeom>
          <a:noFill/>
        </p:spPr>
        <p:txBody>
          <a:bodyPr wrap="square">
            <a:spAutoFit/>
          </a:bodyPr>
          <a:lstStyle/>
          <a:p>
            <a:pPr algn="ctr"/>
            <a:r>
              <a:rPr sz="1100" b="1" i="0">
                <a:solidFill>
                  <a:srgbClr val="030205"/>
                </a:solidFill>
                <a:latin typeface="Inter"/>
              </a:rPr>
              <a:t>Lean tokens,</a:t>
            </a:r>
          </a:p>
          <a:p>
            <a:pPr algn="ctr"/>
            <a:r>
              <a:rPr sz="1100" b="1" i="0">
                <a:solidFill>
                  <a:srgbClr val="030205"/>
                </a:solidFill>
                <a:latin typeface="Inter"/>
              </a:rPr>
              <a:t>human finish</a:t>
            </a:r>
          </a:p>
        </p:txBody>
      </p:sp>
      <p:sp>
        <p:nvSpPr>
          <p:cNvPr id="21" name="TextBox 20"/>
          <p:cNvSpPr txBox="1"/>
          <p:nvPr/>
        </p:nvSpPr>
        <p:spPr>
          <a:xfrm>
            <a:off x="5079492" y="6208776"/>
            <a:ext cx="1609344" cy="1005840"/>
          </a:xfrm>
          <a:prstGeom prst="rect">
            <a:avLst/>
          </a:prstGeom>
          <a:noFill/>
        </p:spPr>
        <p:txBody>
          <a:bodyPr wrap="square">
            <a:spAutoFit/>
          </a:bodyPr>
          <a:lstStyle/>
          <a:p>
            <a:pPr algn="ctr"/>
            <a:r>
              <a:rPr sz="1000" b="0" i="0">
                <a:solidFill>
                  <a:srgbClr val="5A5A5A"/>
                </a:solidFill>
                <a:latin typeface="Inter"/>
              </a:rPr>
              <a:t>Spend less, then put a human finish on whatever comes back so it still sounds like a person. The mask of humanity is the point, not a disclaimer.</a:t>
            </a:r>
          </a:p>
        </p:txBody>
      </p:sp>
      <p:pic>
        <p:nvPicPr>
          <p:cNvPr id="22" name="Picture 21" descr="quote-useful.png"/>
          <p:cNvPicPr>
            <a:picLocks noChangeAspect="1"/>
          </p:cNvPicPr>
          <p:nvPr/>
        </p:nvPicPr>
        <p:blipFill>
          <a:blip r:embed="rId7"/>
          <a:stretch>
            <a:fillRect/>
          </a:stretch>
        </p:blipFill>
        <p:spPr>
          <a:xfrm>
            <a:off x="2331720" y="7360920"/>
            <a:ext cx="2880360" cy="123524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04</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502920" y="1051560"/>
            <a:ext cx="6583680" cy="411480"/>
          </a:xfrm>
          <a:prstGeom prst="rect">
            <a:avLst/>
          </a:prstGeom>
          <a:noFill/>
        </p:spPr>
        <p:txBody>
          <a:bodyPr wrap="square">
            <a:spAutoFit/>
          </a:bodyPr>
          <a:lstStyle/>
          <a:p>
            <a:pPr algn="ctr"/>
            <a:r>
              <a:rPr sz="2400" b="1" i="0">
                <a:solidFill>
                  <a:srgbClr val="030205"/>
                </a:solidFill>
                <a:latin typeface="Inter"/>
              </a:rPr>
              <a:t>The Basis</a:t>
            </a:r>
          </a:p>
        </p:txBody>
      </p:sp>
      <p:sp>
        <p:nvSpPr>
          <p:cNvPr id="7" name="TextBox 6"/>
          <p:cNvSpPr txBox="1"/>
          <p:nvPr/>
        </p:nvSpPr>
        <p:spPr>
          <a:xfrm>
            <a:off x="640080" y="1554480"/>
            <a:ext cx="6309360" cy="292608"/>
          </a:xfrm>
          <a:prstGeom prst="rect">
            <a:avLst/>
          </a:prstGeom>
          <a:noFill/>
        </p:spPr>
        <p:txBody>
          <a:bodyPr wrap="square">
            <a:spAutoFit/>
          </a:bodyPr>
          <a:lstStyle/>
          <a:p>
            <a:pPr algn="l"/>
            <a:r>
              <a:rPr sz="1400" b="1" i="0">
                <a:solidFill>
                  <a:srgbClr val="030205"/>
                </a:solidFill>
                <a:latin typeface="Inter"/>
              </a:rPr>
              <a:t>1. Destigmatise, then get specific</a:t>
            </a:r>
          </a:p>
        </p:txBody>
      </p:sp>
      <p:sp>
        <p:nvSpPr>
          <p:cNvPr id="8" name="TextBox 7"/>
          <p:cNvSpPr txBox="1"/>
          <p:nvPr/>
        </p:nvSpPr>
        <p:spPr>
          <a:xfrm>
            <a:off x="640080" y="1828800"/>
            <a:ext cx="6309360" cy="777240"/>
          </a:xfrm>
          <a:prstGeom prst="rect">
            <a:avLst/>
          </a:prstGeom>
          <a:noFill/>
        </p:spPr>
        <p:txBody>
          <a:bodyPr wrap="square">
            <a:spAutoFit/>
          </a:bodyPr>
          <a:lstStyle/>
          <a:p>
            <a:pPr algn="l"/>
            <a:r>
              <a:rPr sz="1200" b="0" i="0">
                <a:solidFill>
                  <a:srgbClr val="030205"/>
                </a:solidFill>
                <a:latin typeface="Inter"/>
              </a:rPr>
              <a:t>Most campus talk about AI is either hype or a ban. We make a room where “i hate it but its so useful” is a valid starting point, then we get specific about the work.</a:t>
            </a:r>
          </a:p>
        </p:txBody>
      </p:sp>
      <p:sp>
        <p:nvSpPr>
          <p:cNvPr id="9" name="TextBox 8"/>
          <p:cNvSpPr txBox="1"/>
          <p:nvPr/>
        </p:nvSpPr>
        <p:spPr>
          <a:xfrm>
            <a:off x="640080" y="2670048"/>
            <a:ext cx="6309360" cy="292608"/>
          </a:xfrm>
          <a:prstGeom prst="rect">
            <a:avLst/>
          </a:prstGeom>
          <a:noFill/>
        </p:spPr>
        <p:txBody>
          <a:bodyPr wrap="square">
            <a:spAutoFit/>
          </a:bodyPr>
          <a:lstStyle/>
          <a:p>
            <a:pPr algn="l"/>
            <a:r>
              <a:rPr sz="1400" b="1" i="0">
                <a:solidFill>
                  <a:srgbClr val="030205"/>
                </a:solidFill>
                <a:latin typeface="Inter"/>
              </a:rPr>
              <a:t>2. Pursue the untapped potential of AI</a:t>
            </a:r>
          </a:p>
        </p:txBody>
      </p:sp>
      <p:sp>
        <p:nvSpPr>
          <p:cNvPr id="10" name="TextBox 9"/>
          <p:cNvSpPr txBox="1"/>
          <p:nvPr/>
        </p:nvSpPr>
        <p:spPr>
          <a:xfrm>
            <a:off x="640080" y="2944368"/>
            <a:ext cx="6309360" cy="777240"/>
          </a:xfrm>
          <a:prstGeom prst="rect">
            <a:avLst/>
          </a:prstGeom>
          <a:noFill/>
        </p:spPr>
        <p:txBody>
          <a:bodyPr wrap="square">
            <a:spAutoFit/>
          </a:bodyPr>
          <a:lstStyle/>
          <a:p>
            <a:pPr algn="l"/>
            <a:r>
              <a:rPr sz="1200" b="0" i="0">
                <a:solidFill>
                  <a:srgbClr val="030205"/>
                </a:solidFill>
                <a:latin typeface="Inter"/>
              </a:rPr>
              <a:t>Most students only meet the default chatbot. The interesting work is off to the side: multimodal shop-floor photos, syllabus-to-study-plan systems, custom assistants for one recurring task. We go looking for those.</a:t>
            </a:r>
          </a:p>
        </p:txBody>
      </p:sp>
      <p:sp>
        <p:nvSpPr>
          <p:cNvPr id="11" name="TextBox 10"/>
          <p:cNvSpPr txBox="1"/>
          <p:nvPr/>
        </p:nvSpPr>
        <p:spPr>
          <a:xfrm>
            <a:off x="640080" y="3785615"/>
            <a:ext cx="6309360" cy="292608"/>
          </a:xfrm>
          <a:prstGeom prst="rect">
            <a:avLst/>
          </a:prstGeom>
          <a:noFill/>
        </p:spPr>
        <p:txBody>
          <a:bodyPr wrap="square">
            <a:spAutoFit/>
          </a:bodyPr>
          <a:lstStyle/>
          <a:p>
            <a:pPr algn="l"/>
            <a:r>
              <a:rPr sz="1400" b="1" i="0">
                <a:solidFill>
                  <a:srgbClr val="030205"/>
                </a:solidFill>
                <a:latin typeface="Inter"/>
              </a:rPr>
              <a:t>3. Integrate AI into daily and professional workflows</a:t>
            </a:r>
          </a:p>
        </p:txBody>
      </p:sp>
      <p:sp>
        <p:nvSpPr>
          <p:cNvPr id="12" name="TextBox 11"/>
          <p:cNvSpPr txBox="1"/>
          <p:nvPr/>
        </p:nvSpPr>
        <p:spPr>
          <a:xfrm>
            <a:off x="640080" y="4059935"/>
            <a:ext cx="6309360" cy="777240"/>
          </a:xfrm>
          <a:prstGeom prst="rect">
            <a:avLst/>
          </a:prstGeom>
          <a:noFill/>
        </p:spPr>
        <p:txBody>
          <a:bodyPr wrap="square">
            <a:spAutoFit/>
          </a:bodyPr>
          <a:lstStyle/>
          <a:p>
            <a:pPr algn="l"/>
            <a:r>
              <a:rPr sz="1200" b="0" i="0">
                <a:solidFill>
                  <a:srgbClr val="030205"/>
                </a:solidFill>
                <a:latin typeface="Inter"/>
              </a:rPr>
              <a:t>A demo is not a habit. We treat AI as something you fold into Tuesday — class, practicum, job search, client email, shop estimates — then keep only the pieces that actually save time.</a:t>
            </a:r>
          </a:p>
        </p:txBody>
      </p:sp>
      <p:sp>
        <p:nvSpPr>
          <p:cNvPr id="13" name="TextBox 12"/>
          <p:cNvSpPr txBox="1"/>
          <p:nvPr/>
        </p:nvSpPr>
        <p:spPr>
          <a:xfrm>
            <a:off x="640080" y="4901183"/>
            <a:ext cx="6309360" cy="292608"/>
          </a:xfrm>
          <a:prstGeom prst="rect">
            <a:avLst/>
          </a:prstGeom>
          <a:noFill/>
        </p:spPr>
        <p:txBody>
          <a:bodyPr wrap="square">
            <a:spAutoFit/>
          </a:bodyPr>
          <a:lstStyle/>
          <a:p>
            <a:pPr algn="l"/>
            <a:r>
              <a:rPr sz="1400" b="1" i="0">
                <a:solidFill>
                  <a:srgbClr val="030205"/>
                </a:solidFill>
                <a:latin typeface="Inter"/>
              </a:rPr>
              <a:t>4. Optimize tokens, keep the mask of humanity</a:t>
            </a:r>
          </a:p>
        </p:txBody>
      </p:sp>
      <p:sp>
        <p:nvSpPr>
          <p:cNvPr id="14" name="TextBox 13"/>
          <p:cNvSpPr txBox="1"/>
          <p:nvPr/>
        </p:nvSpPr>
        <p:spPr>
          <a:xfrm>
            <a:off x="640080" y="5175503"/>
            <a:ext cx="6309360" cy="777240"/>
          </a:xfrm>
          <a:prstGeom prst="rect">
            <a:avLst/>
          </a:prstGeom>
          <a:noFill/>
        </p:spPr>
        <p:txBody>
          <a:bodyPr wrap="square">
            <a:spAutoFit/>
          </a:bodyPr>
          <a:lstStyle/>
          <a:p>
            <a:pPr algn="l"/>
            <a:r>
              <a:rPr sz="1200" b="0" i="0">
                <a:solidFill>
                  <a:srgbClr val="030205"/>
                </a:solidFill>
                <a:latin typeface="Inter"/>
              </a:rPr>
              <a:t>Wasteful prompts are sloppy thinking. We practice getting the same (or better) result with less context, then putting a human finish on whatever comes back so it still sounds like a person, not a template.</a:t>
            </a:r>
          </a:p>
        </p:txBody>
      </p:sp>
      <p:sp>
        <p:nvSpPr>
          <p:cNvPr id="15" name="TextBox 14"/>
          <p:cNvSpPr txBox="1"/>
          <p:nvPr/>
        </p:nvSpPr>
        <p:spPr>
          <a:xfrm>
            <a:off x="640080" y="6016751"/>
            <a:ext cx="6309360" cy="292608"/>
          </a:xfrm>
          <a:prstGeom prst="rect">
            <a:avLst/>
          </a:prstGeom>
          <a:noFill/>
        </p:spPr>
        <p:txBody>
          <a:bodyPr wrap="square">
            <a:spAutoFit/>
          </a:bodyPr>
          <a:lstStyle/>
          <a:p>
            <a:pPr algn="l"/>
            <a:r>
              <a:rPr sz="1400" b="1" i="0">
                <a:solidFill>
                  <a:srgbClr val="030205"/>
                </a:solidFill>
                <a:latin typeface="Inter"/>
              </a:rPr>
              <a:t>5. A Saitsa club at a polytechnic</a:t>
            </a:r>
          </a:p>
        </p:txBody>
      </p:sp>
      <p:sp>
        <p:nvSpPr>
          <p:cNvPr id="16" name="TextBox 15"/>
          <p:cNvSpPr txBox="1"/>
          <p:nvPr/>
        </p:nvSpPr>
        <p:spPr>
          <a:xfrm>
            <a:off x="640080" y="6291071"/>
            <a:ext cx="6309360" cy="777240"/>
          </a:xfrm>
          <a:prstGeom prst="rect">
            <a:avLst/>
          </a:prstGeom>
          <a:noFill/>
        </p:spPr>
        <p:txBody>
          <a:bodyPr wrap="square">
            <a:spAutoFit/>
          </a:bodyPr>
          <a:lstStyle/>
          <a:p>
            <a:pPr algn="l"/>
            <a:r>
              <a:rPr sz="1200" b="0" i="0">
                <a:solidFill>
                  <a:srgbClr val="030205"/>
                </a:solidFill>
                <a:latin typeface="Inter"/>
              </a:rPr>
              <a:t>SAIT workflows are not generic. Construction, health, energy, business, media, and ICT each hide different unused potential. We exist so those workflows can be compared in one room — as an open, student-led, non-profit Saitsa club, registered through the Clubs Portal.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05</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502920" y="1051560"/>
            <a:ext cx="6583680" cy="411480"/>
          </a:xfrm>
          <a:prstGeom prst="rect">
            <a:avLst/>
          </a:prstGeom>
          <a:noFill/>
        </p:spPr>
        <p:txBody>
          <a:bodyPr wrap="square">
            <a:spAutoFit/>
          </a:bodyPr>
          <a:lstStyle/>
          <a:p>
            <a:pPr algn="ctr"/>
            <a:r>
              <a:rPr sz="2400" b="1" i="0">
                <a:solidFill>
                  <a:srgbClr val="030205"/>
                </a:solidFill>
                <a:latin typeface="Inter"/>
              </a:rPr>
              <a:t>Goals</a:t>
            </a:r>
          </a:p>
        </p:txBody>
      </p:sp>
      <p:sp>
        <p:nvSpPr>
          <p:cNvPr id="7" name="TextBox 6"/>
          <p:cNvSpPr txBox="1"/>
          <p:nvPr/>
        </p:nvSpPr>
        <p:spPr>
          <a:xfrm>
            <a:off x="640080" y="1554480"/>
            <a:ext cx="6309360" cy="292608"/>
          </a:xfrm>
          <a:prstGeom prst="rect">
            <a:avLst/>
          </a:prstGeom>
          <a:noFill/>
        </p:spPr>
        <p:txBody>
          <a:bodyPr wrap="square">
            <a:spAutoFit/>
          </a:bodyPr>
          <a:lstStyle/>
          <a:p>
            <a:pPr algn="l"/>
            <a:r>
              <a:rPr sz="1400" b="1" i="0">
                <a:solidFill>
                  <a:srgbClr val="030205"/>
                </a:solidFill>
                <a:latin typeface="Inter"/>
              </a:rPr>
              <a:t>1. Destigmatise AI, talk honestly</a:t>
            </a:r>
          </a:p>
        </p:txBody>
      </p:sp>
      <p:sp>
        <p:nvSpPr>
          <p:cNvPr id="8" name="TextBox 7"/>
          <p:cNvSpPr txBox="1"/>
          <p:nvPr/>
        </p:nvSpPr>
        <p:spPr>
          <a:xfrm>
            <a:off x="640080" y="1828800"/>
            <a:ext cx="6309360" cy="777240"/>
          </a:xfrm>
          <a:prstGeom prst="rect">
            <a:avLst/>
          </a:prstGeom>
          <a:noFill/>
        </p:spPr>
        <p:txBody>
          <a:bodyPr wrap="square">
            <a:spAutoFit/>
          </a:bodyPr>
          <a:lstStyle/>
          <a:p>
            <a:pPr algn="l"/>
            <a:r>
              <a:rPr sz="1200" b="0" i="0">
                <a:solidFill>
                  <a:srgbClr val="030205"/>
                </a:solidFill>
                <a:latin typeface="Inter"/>
              </a:rPr>
              <a:t>Hold space for conflicting feelings. Curiosity is welcome; so is discomfort. The club is not a tool fan club.</a:t>
            </a:r>
          </a:p>
        </p:txBody>
      </p:sp>
      <p:sp>
        <p:nvSpPr>
          <p:cNvPr id="9" name="TextBox 8"/>
          <p:cNvSpPr txBox="1"/>
          <p:nvPr/>
        </p:nvSpPr>
        <p:spPr>
          <a:xfrm>
            <a:off x="640080" y="2670048"/>
            <a:ext cx="6309360" cy="292608"/>
          </a:xfrm>
          <a:prstGeom prst="rect">
            <a:avLst/>
          </a:prstGeom>
          <a:noFill/>
        </p:spPr>
        <p:txBody>
          <a:bodyPr wrap="square">
            <a:spAutoFit/>
          </a:bodyPr>
          <a:lstStyle/>
          <a:p>
            <a:pPr algn="l"/>
            <a:r>
              <a:rPr sz="1400" b="1" i="0">
                <a:solidFill>
                  <a:srgbClr val="030205"/>
                </a:solidFill>
                <a:latin typeface="Inter"/>
              </a:rPr>
              <a:t>2. Pursue Untapped Potential</a:t>
            </a:r>
          </a:p>
        </p:txBody>
      </p:sp>
      <p:sp>
        <p:nvSpPr>
          <p:cNvPr id="10" name="TextBox 9"/>
          <p:cNvSpPr txBox="1"/>
          <p:nvPr/>
        </p:nvSpPr>
        <p:spPr>
          <a:xfrm>
            <a:off x="640080" y="2944368"/>
            <a:ext cx="6309360" cy="777240"/>
          </a:xfrm>
          <a:prstGeom prst="rect">
            <a:avLst/>
          </a:prstGeom>
          <a:noFill/>
        </p:spPr>
        <p:txBody>
          <a:bodyPr wrap="square">
            <a:spAutoFit/>
          </a:bodyPr>
          <a:lstStyle/>
          <a:p>
            <a:pPr algn="l"/>
            <a:r>
              <a:rPr sz="1200" b="0" i="0">
                <a:solidFill>
                  <a:srgbClr val="030205"/>
                </a:solidFill>
                <a:latin typeface="Inter"/>
              </a:rPr>
              <a:t>Look past the default chatbot. Find uses, tools, and questions that students and workplaces have not worn out yet.</a:t>
            </a:r>
          </a:p>
        </p:txBody>
      </p:sp>
      <p:sp>
        <p:nvSpPr>
          <p:cNvPr id="11" name="TextBox 10"/>
          <p:cNvSpPr txBox="1"/>
          <p:nvPr/>
        </p:nvSpPr>
        <p:spPr>
          <a:xfrm>
            <a:off x="640080" y="3785615"/>
            <a:ext cx="6309360" cy="292608"/>
          </a:xfrm>
          <a:prstGeom prst="rect">
            <a:avLst/>
          </a:prstGeom>
          <a:noFill/>
        </p:spPr>
        <p:txBody>
          <a:bodyPr wrap="square">
            <a:spAutoFit/>
          </a:bodyPr>
          <a:lstStyle/>
          <a:p>
            <a:pPr algn="l"/>
            <a:r>
              <a:rPr sz="1400" b="1" i="0">
                <a:solidFill>
                  <a:srgbClr val="030205"/>
                </a:solidFill>
                <a:latin typeface="Inter"/>
              </a:rPr>
              <a:t>3. Integrate AI into Daily &amp; Professional Workflows</a:t>
            </a:r>
          </a:p>
        </p:txBody>
      </p:sp>
      <p:sp>
        <p:nvSpPr>
          <p:cNvPr id="12" name="TextBox 11"/>
          <p:cNvSpPr txBox="1"/>
          <p:nvPr/>
        </p:nvSpPr>
        <p:spPr>
          <a:xfrm>
            <a:off x="640080" y="4059935"/>
            <a:ext cx="6309360" cy="777240"/>
          </a:xfrm>
          <a:prstGeom prst="rect">
            <a:avLst/>
          </a:prstGeom>
          <a:noFill/>
        </p:spPr>
        <p:txBody>
          <a:bodyPr wrap="square">
            <a:spAutoFit/>
          </a:bodyPr>
          <a:lstStyle/>
          <a:p>
            <a:pPr algn="l"/>
            <a:r>
              <a:rPr sz="1200" b="0" i="0">
                <a:solidFill>
                  <a:srgbClr val="030205"/>
                </a:solidFill>
                <a:latin typeface="Inter"/>
              </a:rPr>
              <a:t>Move from one-off demos to habits: class, practicum, job search, and the work of each SAIT program.</a:t>
            </a:r>
          </a:p>
        </p:txBody>
      </p:sp>
      <p:sp>
        <p:nvSpPr>
          <p:cNvPr id="13" name="TextBox 12"/>
          <p:cNvSpPr txBox="1"/>
          <p:nvPr/>
        </p:nvSpPr>
        <p:spPr>
          <a:xfrm>
            <a:off x="640080" y="4901183"/>
            <a:ext cx="6309360" cy="292608"/>
          </a:xfrm>
          <a:prstGeom prst="rect">
            <a:avLst/>
          </a:prstGeom>
          <a:noFill/>
        </p:spPr>
        <p:txBody>
          <a:bodyPr wrap="square">
            <a:spAutoFit/>
          </a:bodyPr>
          <a:lstStyle/>
          <a:p>
            <a:pPr algn="l"/>
            <a:r>
              <a:rPr sz="1400" b="1" i="0">
                <a:solidFill>
                  <a:srgbClr val="030205"/>
                </a:solidFill>
                <a:latin typeface="Inter"/>
              </a:rPr>
              <a:t>4. Optimize Tokens, Keep the Human</a:t>
            </a:r>
          </a:p>
        </p:txBody>
      </p:sp>
      <p:sp>
        <p:nvSpPr>
          <p:cNvPr id="14" name="TextBox 13"/>
          <p:cNvSpPr txBox="1"/>
          <p:nvPr/>
        </p:nvSpPr>
        <p:spPr>
          <a:xfrm>
            <a:off x="640080" y="5175503"/>
            <a:ext cx="6309360" cy="777240"/>
          </a:xfrm>
          <a:prstGeom prst="rect">
            <a:avLst/>
          </a:prstGeom>
          <a:noFill/>
        </p:spPr>
        <p:txBody>
          <a:bodyPr wrap="square">
            <a:spAutoFit/>
          </a:bodyPr>
          <a:lstStyle/>
          <a:p>
            <a:pPr algn="l"/>
            <a:r>
              <a:rPr sz="1200" b="0" i="0">
                <a:solidFill>
                  <a:srgbClr val="030205"/>
                </a:solidFill>
                <a:latin typeface="Inter"/>
              </a:rPr>
              <a:t>Spend fewer tokens for a better result, then edit until the work still sounds like a person — with judgment, taste, and a name on it.</a:t>
            </a:r>
          </a:p>
        </p:txBody>
      </p:sp>
      <p:sp>
        <p:nvSpPr>
          <p:cNvPr id="15" name="TextBox 14"/>
          <p:cNvSpPr txBox="1"/>
          <p:nvPr/>
        </p:nvSpPr>
        <p:spPr>
          <a:xfrm>
            <a:off x="640080" y="6016751"/>
            <a:ext cx="6309360" cy="292608"/>
          </a:xfrm>
          <a:prstGeom prst="rect">
            <a:avLst/>
          </a:prstGeom>
          <a:noFill/>
        </p:spPr>
        <p:txBody>
          <a:bodyPr wrap="square">
            <a:spAutoFit/>
          </a:bodyPr>
          <a:lstStyle/>
          <a:p>
            <a:pPr algn="l"/>
            <a:r>
              <a:rPr sz="1400" b="1" i="0">
                <a:solidFill>
                  <a:srgbClr val="030205"/>
                </a:solidFill>
                <a:latin typeface="Inter"/>
              </a:rPr>
              <a:t>5. Cross-Program Workflow Sharing</a:t>
            </a:r>
          </a:p>
        </p:txBody>
      </p:sp>
      <p:sp>
        <p:nvSpPr>
          <p:cNvPr id="16" name="TextBox 15"/>
          <p:cNvSpPr txBox="1"/>
          <p:nvPr/>
        </p:nvSpPr>
        <p:spPr>
          <a:xfrm>
            <a:off x="640080" y="6291071"/>
            <a:ext cx="6309360" cy="777240"/>
          </a:xfrm>
          <a:prstGeom prst="rect">
            <a:avLst/>
          </a:prstGeom>
          <a:noFill/>
        </p:spPr>
        <p:txBody>
          <a:bodyPr wrap="square">
            <a:spAutoFit/>
          </a:bodyPr>
          <a:lstStyle/>
          <a:p>
            <a:pPr algn="l"/>
            <a:r>
              <a:rPr sz="1200" b="0" i="0">
                <a:solidFill>
                  <a:srgbClr val="030205"/>
                </a:solidFill>
                <a:latin typeface="Inter"/>
              </a:rPr>
              <a:t>A construction estimate, a lab write-up, and a client email are different jobs. Bring them into the same room so unused potential travels.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06</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502920" y="1051560"/>
            <a:ext cx="6583680" cy="411480"/>
          </a:xfrm>
          <a:prstGeom prst="rect">
            <a:avLst/>
          </a:prstGeom>
          <a:noFill/>
        </p:spPr>
        <p:txBody>
          <a:bodyPr wrap="square">
            <a:spAutoFit/>
          </a:bodyPr>
          <a:lstStyle/>
          <a:p>
            <a:pPr algn="ctr"/>
            <a:r>
              <a:rPr sz="2400" b="1" i="0">
                <a:solidFill>
                  <a:srgbClr val="030205"/>
                </a:solidFill>
                <a:latin typeface="Inter"/>
              </a:rPr>
              <a:t>Goals</a:t>
            </a:r>
          </a:p>
        </p:txBody>
      </p:sp>
      <p:sp>
        <p:nvSpPr>
          <p:cNvPr id="7" name="TextBox 6"/>
          <p:cNvSpPr txBox="1"/>
          <p:nvPr/>
        </p:nvSpPr>
        <p:spPr>
          <a:xfrm>
            <a:off x="640080" y="1554480"/>
            <a:ext cx="6309360" cy="292608"/>
          </a:xfrm>
          <a:prstGeom prst="rect">
            <a:avLst/>
          </a:prstGeom>
          <a:noFill/>
        </p:spPr>
        <p:txBody>
          <a:bodyPr wrap="square">
            <a:spAutoFit/>
          </a:bodyPr>
          <a:lstStyle/>
          <a:p>
            <a:pPr algn="l"/>
            <a:r>
              <a:rPr sz="1400" b="1" i="0">
                <a:solidFill>
                  <a:srgbClr val="030205"/>
                </a:solidFill>
                <a:latin typeface="Inter"/>
              </a:rPr>
              <a:t>6. Lower Barriers to Participation</a:t>
            </a:r>
          </a:p>
        </p:txBody>
      </p:sp>
      <p:sp>
        <p:nvSpPr>
          <p:cNvPr id="8" name="TextBox 7"/>
          <p:cNvSpPr txBox="1"/>
          <p:nvPr/>
        </p:nvSpPr>
        <p:spPr>
          <a:xfrm>
            <a:off x="640080" y="1828800"/>
            <a:ext cx="6309360" cy="777240"/>
          </a:xfrm>
          <a:prstGeom prst="rect">
            <a:avLst/>
          </a:prstGeom>
          <a:noFill/>
        </p:spPr>
        <p:txBody>
          <a:bodyPr wrap="square">
            <a:spAutoFit/>
          </a:bodyPr>
          <a:lstStyle/>
          <a:p>
            <a:pPr algn="l"/>
            <a:r>
              <a:rPr sz="1200" b="0" i="0">
                <a:solidFill>
                  <a:srgbClr val="030205"/>
                </a:solidFill>
                <a:latin typeface="Inter"/>
              </a:rPr>
              <a:t>Make joining easy. You do not need a computer-science background, a paid model, or a finished prompt library to walk in. Membership stays open to all SAIT students.</a:t>
            </a:r>
          </a:p>
        </p:txBody>
      </p:sp>
      <p:sp>
        <p:nvSpPr>
          <p:cNvPr id="9" name="TextBox 8"/>
          <p:cNvSpPr txBox="1"/>
          <p:nvPr/>
        </p:nvSpPr>
        <p:spPr>
          <a:xfrm>
            <a:off x="640080" y="2670048"/>
            <a:ext cx="6309360" cy="292608"/>
          </a:xfrm>
          <a:prstGeom prst="rect">
            <a:avLst/>
          </a:prstGeom>
          <a:noFill/>
        </p:spPr>
        <p:txBody>
          <a:bodyPr wrap="square">
            <a:spAutoFit/>
          </a:bodyPr>
          <a:lstStyle/>
          <a:p>
            <a:pPr algn="l"/>
            <a:r>
              <a:rPr sz="1400" b="1" i="0">
                <a:solidFill>
                  <a:srgbClr val="030205"/>
                </a:solidFill>
                <a:latin typeface="Inter"/>
              </a:rPr>
              <a:t>7. Leadership Development</a:t>
            </a:r>
          </a:p>
        </p:txBody>
      </p:sp>
      <p:sp>
        <p:nvSpPr>
          <p:cNvPr id="10" name="TextBox 9"/>
          <p:cNvSpPr txBox="1"/>
          <p:nvPr/>
        </p:nvSpPr>
        <p:spPr>
          <a:xfrm>
            <a:off x="640080" y="2944368"/>
            <a:ext cx="6309360" cy="777240"/>
          </a:xfrm>
          <a:prstGeom prst="rect">
            <a:avLst/>
          </a:prstGeom>
          <a:noFill/>
        </p:spPr>
        <p:txBody>
          <a:bodyPr wrap="square">
            <a:spAutoFit/>
          </a:bodyPr>
          <a:lstStyle/>
          <a:p>
            <a:pPr algn="l"/>
            <a:r>
              <a:rPr sz="1200" b="0" i="0">
                <a:solidFill>
                  <a:srgbClr val="030205"/>
                </a:solidFill>
                <a:latin typeface="Inter"/>
              </a:rPr>
              <a:t>Run the club the way we want people to run AI: lean, documented, and human. Meetings, budgets, events, and conflict — under Saitsa’s 2026/27 framework.</a:t>
            </a:r>
          </a:p>
        </p:txBody>
      </p:sp>
      <p:sp>
        <p:nvSpPr>
          <p:cNvPr id="11" name="TextBox 10"/>
          <p:cNvSpPr txBox="1"/>
          <p:nvPr/>
        </p:nvSpPr>
        <p:spPr>
          <a:xfrm>
            <a:off x="640080" y="3785615"/>
            <a:ext cx="6309360" cy="292608"/>
          </a:xfrm>
          <a:prstGeom prst="rect">
            <a:avLst/>
          </a:prstGeom>
          <a:noFill/>
        </p:spPr>
        <p:txBody>
          <a:bodyPr wrap="square">
            <a:spAutoFit/>
          </a:bodyPr>
          <a:lstStyle/>
          <a:p>
            <a:pPr algn="l"/>
            <a:r>
              <a:rPr sz="1400" b="1" i="0">
                <a:solidFill>
                  <a:srgbClr val="030205"/>
                </a:solidFill>
                <a:latin typeface="Inter"/>
              </a:rPr>
              <a:t>8. Experiment Without Waste</a:t>
            </a:r>
          </a:p>
        </p:txBody>
      </p:sp>
      <p:sp>
        <p:nvSpPr>
          <p:cNvPr id="12" name="TextBox 11"/>
          <p:cNvSpPr txBox="1"/>
          <p:nvPr/>
        </p:nvSpPr>
        <p:spPr>
          <a:xfrm>
            <a:off x="640080" y="4059935"/>
            <a:ext cx="6309360" cy="777240"/>
          </a:xfrm>
          <a:prstGeom prst="rect">
            <a:avLst/>
          </a:prstGeom>
          <a:noFill/>
        </p:spPr>
        <p:txBody>
          <a:bodyPr wrap="square">
            <a:spAutoFit/>
          </a:bodyPr>
          <a:lstStyle/>
          <a:p>
            <a:pPr algn="l"/>
            <a:r>
              <a:rPr sz="1200" b="0" i="0">
                <a:solidFill>
                  <a:srgbClr val="030205"/>
                </a:solidFill>
                <a:latin typeface="Inter"/>
              </a:rPr>
              <a:t>Try the weird idea. Kill the prompt that burns tokens for nothing. Halt and restart. Curiosity is encouraged; sloppy generation is not the culture.</a:t>
            </a:r>
          </a:p>
        </p:txBody>
      </p:sp>
      <p:sp>
        <p:nvSpPr>
          <p:cNvPr id="13" name="TextBox 12"/>
          <p:cNvSpPr txBox="1"/>
          <p:nvPr/>
        </p:nvSpPr>
        <p:spPr>
          <a:xfrm>
            <a:off x="640080" y="4901183"/>
            <a:ext cx="6309360" cy="292608"/>
          </a:xfrm>
          <a:prstGeom prst="rect">
            <a:avLst/>
          </a:prstGeom>
          <a:noFill/>
        </p:spPr>
        <p:txBody>
          <a:bodyPr wrap="square">
            <a:spAutoFit/>
          </a:bodyPr>
          <a:lstStyle/>
          <a:p>
            <a:pPr algn="l"/>
            <a:r>
              <a:rPr sz="1400" b="1" i="0">
                <a:solidFill>
                  <a:srgbClr val="030205"/>
                </a:solidFill>
                <a:latin typeface="Inter"/>
              </a:rPr>
              <a:t>9. Integrity, Voice, and Human Accountability</a:t>
            </a:r>
          </a:p>
        </p:txBody>
      </p:sp>
      <p:sp>
        <p:nvSpPr>
          <p:cNvPr id="14" name="TextBox 13"/>
          <p:cNvSpPr txBox="1"/>
          <p:nvPr/>
        </p:nvSpPr>
        <p:spPr>
          <a:xfrm>
            <a:off x="640080" y="5175503"/>
            <a:ext cx="6309360" cy="777240"/>
          </a:xfrm>
          <a:prstGeom prst="rect">
            <a:avLst/>
          </a:prstGeom>
          <a:noFill/>
        </p:spPr>
        <p:txBody>
          <a:bodyPr wrap="square">
            <a:spAutoFit/>
          </a:bodyPr>
          <a:lstStyle/>
          <a:p>
            <a:pPr algn="l"/>
            <a:r>
              <a:rPr sz="1200" b="0" i="0">
                <a:solidFill>
                  <a:srgbClr val="030205"/>
                </a:solidFill>
                <a:latin typeface="Inter"/>
              </a:rPr>
              <a:t>Keep academic honesty and a recognizable human voice. If you could not stand behind the output without the model, it is not finished.</a:t>
            </a:r>
          </a:p>
        </p:txBody>
      </p:sp>
      <p:sp>
        <p:nvSpPr>
          <p:cNvPr id="15" name="TextBox 14"/>
          <p:cNvSpPr txBox="1"/>
          <p:nvPr/>
        </p:nvSpPr>
        <p:spPr>
          <a:xfrm>
            <a:off x="640080" y="6016751"/>
            <a:ext cx="6309360" cy="292608"/>
          </a:xfrm>
          <a:prstGeom prst="rect">
            <a:avLst/>
          </a:prstGeom>
          <a:noFill/>
        </p:spPr>
        <p:txBody>
          <a:bodyPr wrap="square">
            <a:spAutoFit/>
          </a:bodyPr>
          <a:lstStyle/>
          <a:p>
            <a:pPr algn="l"/>
            <a:r>
              <a:rPr sz="1400" b="1" i="0">
                <a:solidFill>
                  <a:srgbClr val="030205"/>
                </a:solidFill>
                <a:latin typeface="Inter"/>
              </a:rPr>
              <a:t>10. Strengthen Unnatural Intelligence’s Presence on Campus</a:t>
            </a:r>
          </a:p>
        </p:txBody>
      </p:sp>
      <p:sp>
        <p:nvSpPr>
          <p:cNvPr id="16" name="TextBox 15"/>
          <p:cNvSpPr txBox="1"/>
          <p:nvPr/>
        </p:nvSpPr>
        <p:spPr>
          <a:xfrm>
            <a:off x="640080" y="6291071"/>
            <a:ext cx="6309360" cy="777240"/>
          </a:xfrm>
          <a:prstGeom prst="rect">
            <a:avLst/>
          </a:prstGeom>
          <a:noFill/>
        </p:spPr>
        <p:txBody>
          <a:bodyPr wrap="square">
            <a:spAutoFit/>
          </a:bodyPr>
          <a:lstStyle/>
          <a:p>
            <a:pPr algn="l"/>
            <a:r>
              <a:rPr sz="1200" b="0" i="0">
                <a:solidFill>
                  <a:srgbClr val="030205"/>
                </a:solidFill>
                <a:latin typeface="Inter"/>
              </a:rPr>
              <a:t>Be the SAIT club known for unused potential, real workflows, honest talk about AI, and work that still sounds like a person.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07</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502920" y="1051560"/>
            <a:ext cx="6583680" cy="411480"/>
          </a:xfrm>
          <a:prstGeom prst="rect">
            <a:avLst/>
          </a:prstGeom>
          <a:noFill/>
        </p:spPr>
        <p:txBody>
          <a:bodyPr wrap="square">
            <a:spAutoFit/>
          </a:bodyPr>
          <a:lstStyle/>
          <a:p>
            <a:pPr algn="ctr"/>
            <a:r>
              <a:rPr sz="2400" b="1" i="0">
                <a:solidFill>
                  <a:srgbClr val="030205"/>
                </a:solidFill>
                <a:latin typeface="Inter"/>
              </a:rPr>
              <a:t>How We Operate</a:t>
            </a:r>
          </a:p>
        </p:txBody>
      </p:sp>
      <p:sp>
        <p:nvSpPr>
          <p:cNvPr id="7" name="TextBox 6"/>
          <p:cNvSpPr txBox="1"/>
          <p:nvPr/>
        </p:nvSpPr>
        <p:spPr>
          <a:xfrm>
            <a:off x="640080" y="1554480"/>
            <a:ext cx="6309360" cy="292608"/>
          </a:xfrm>
          <a:prstGeom prst="rect">
            <a:avLst/>
          </a:prstGeom>
          <a:noFill/>
        </p:spPr>
        <p:txBody>
          <a:bodyPr wrap="square">
            <a:spAutoFit/>
          </a:bodyPr>
          <a:lstStyle/>
          <a:p>
            <a:pPr algn="l"/>
            <a:r>
              <a:rPr sz="1400" b="1" i="0">
                <a:solidFill>
                  <a:srgbClr val="030205"/>
                </a:solidFill>
                <a:latin typeface="Inter"/>
              </a:rPr>
              <a:t>Student-driven, volunteer, non-profit</a:t>
            </a:r>
          </a:p>
        </p:txBody>
      </p:sp>
      <p:sp>
        <p:nvSpPr>
          <p:cNvPr id="8" name="TextBox 7"/>
          <p:cNvSpPr txBox="1"/>
          <p:nvPr/>
        </p:nvSpPr>
        <p:spPr>
          <a:xfrm>
            <a:off x="640080" y="1828800"/>
            <a:ext cx="6309360" cy="777240"/>
          </a:xfrm>
          <a:prstGeom prst="rect">
            <a:avLst/>
          </a:prstGeom>
          <a:noFill/>
        </p:spPr>
        <p:txBody>
          <a:bodyPr wrap="square">
            <a:spAutoFit/>
          </a:bodyPr>
          <a:lstStyle/>
          <a:p>
            <a:pPr algn="l"/>
            <a:r>
              <a:rPr sz="1200" b="0" i="0">
                <a:solidFill>
                  <a:srgbClr val="030205"/>
                </a:solidFill>
                <a:latin typeface="Inter"/>
              </a:rPr>
              <a:t>Saitsa clubs are student-led and unpaid. We cannot pay salaries or stipends to executives or members. Fundraising is encouraged; profit is not the point.</a:t>
            </a:r>
          </a:p>
        </p:txBody>
      </p:sp>
      <p:sp>
        <p:nvSpPr>
          <p:cNvPr id="9" name="TextBox 8"/>
          <p:cNvSpPr txBox="1"/>
          <p:nvPr/>
        </p:nvSpPr>
        <p:spPr>
          <a:xfrm>
            <a:off x="640080" y="2670048"/>
            <a:ext cx="6309360" cy="292608"/>
          </a:xfrm>
          <a:prstGeom prst="rect">
            <a:avLst/>
          </a:prstGeom>
          <a:noFill/>
        </p:spPr>
        <p:txBody>
          <a:bodyPr wrap="square">
            <a:spAutoFit/>
          </a:bodyPr>
          <a:lstStyle/>
          <a:p>
            <a:pPr algn="l"/>
            <a:r>
              <a:rPr sz="1400" b="1" i="0">
                <a:solidFill>
                  <a:srgbClr val="030205"/>
                </a:solidFill>
                <a:latin typeface="Inter"/>
              </a:rPr>
              <a:t>Open membership</a:t>
            </a:r>
          </a:p>
        </p:txBody>
      </p:sp>
      <p:sp>
        <p:nvSpPr>
          <p:cNvPr id="10" name="TextBox 9"/>
          <p:cNvSpPr txBox="1"/>
          <p:nvPr/>
        </p:nvSpPr>
        <p:spPr>
          <a:xfrm>
            <a:off x="640080" y="2944368"/>
            <a:ext cx="6309360" cy="777240"/>
          </a:xfrm>
          <a:prstGeom prst="rect">
            <a:avLst/>
          </a:prstGeom>
          <a:noFill/>
        </p:spPr>
        <p:txBody>
          <a:bodyPr wrap="square">
            <a:spAutoFit/>
          </a:bodyPr>
          <a:lstStyle/>
          <a:p>
            <a:pPr algn="l"/>
            <a:r>
              <a:rPr sz="1200" b="0" i="0">
                <a:solidFill>
                  <a:srgbClr val="030205"/>
                </a:solidFill>
                <a:latin typeface="Inter"/>
              </a:rPr>
              <a:t>Membership is open and inclusive to all SAIT students. At least 75% of members must be current SAIT students. Community members (including SAIT staff and faculty) may join at the executives’ discretion but cannot hold executive roles or vote. Fees are permitted, not required.</a:t>
            </a:r>
          </a:p>
        </p:txBody>
      </p:sp>
      <p:sp>
        <p:nvSpPr>
          <p:cNvPr id="11" name="TextBox 10"/>
          <p:cNvSpPr txBox="1"/>
          <p:nvPr/>
        </p:nvSpPr>
        <p:spPr>
          <a:xfrm>
            <a:off x="640080" y="3785615"/>
            <a:ext cx="6309360" cy="292608"/>
          </a:xfrm>
          <a:prstGeom prst="rect">
            <a:avLst/>
          </a:prstGeom>
          <a:noFill/>
        </p:spPr>
        <p:txBody>
          <a:bodyPr wrap="square">
            <a:spAutoFit/>
          </a:bodyPr>
          <a:lstStyle/>
          <a:p>
            <a:pPr algn="l"/>
            <a:r>
              <a:rPr sz="1400" b="1" i="0">
                <a:solidFill>
                  <a:srgbClr val="030205"/>
                </a:solidFill>
                <a:latin typeface="Inter"/>
              </a:rPr>
              <a:t>Three signing authorities</a:t>
            </a:r>
          </a:p>
        </p:txBody>
      </p:sp>
      <p:sp>
        <p:nvSpPr>
          <p:cNvPr id="12" name="TextBox 11"/>
          <p:cNvSpPr txBox="1"/>
          <p:nvPr/>
        </p:nvSpPr>
        <p:spPr>
          <a:xfrm>
            <a:off x="640080" y="4059935"/>
            <a:ext cx="6309360" cy="777240"/>
          </a:xfrm>
          <a:prstGeom prst="rect">
            <a:avLst/>
          </a:prstGeom>
          <a:noFill/>
        </p:spPr>
        <p:txBody>
          <a:bodyPr wrap="square">
            <a:spAutoFit/>
          </a:bodyPr>
          <a:lstStyle/>
          <a:p>
            <a:pPr algn="l"/>
            <a:r>
              <a:rPr sz="1200" b="0" i="0">
                <a:solidFill>
                  <a:srgbClr val="030205"/>
                </a:solidFill>
                <a:latin typeface="Inter"/>
              </a:rPr>
              <a:t>President, Vice-President Operations, and Vice-President Finance must stay filled. A vacancy in any of those roles must be filled before the club can continue to operate. Only current SAIT students who have paid their Saitsa fee, and who are in good academic standing, may hold executive positions. One person, one executive title.</a:t>
            </a:r>
          </a:p>
        </p:txBody>
      </p:sp>
      <p:sp>
        <p:nvSpPr>
          <p:cNvPr id="13" name="TextBox 12"/>
          <p:cNvSpPr txBox="1"/>
          <p:nvPr/>
        </p:nvSpPr>
        <p:spPr>
          <a:xfrm>
            <a:off x="640080" y="4901183"/>
            <a:ext cx="6309360" cy="292608"/>
          </a:xfrm>
          <a:prstGeom prst="rect">
            <a:avLst/>
          </a:prstGeom>
          <a:noFill/>
        </p:spPr>
        <p:txBody>
          <a:bodyPr wrap="square">
            <a:spAutoFit/>
          </a:bodyPr>
          <a:lstStyle/>
          <a:p>
            <a:pPr algn="l"/>
            <a:r>
              <a:rPr sz="1400" b="1" i="0">
                <a:solidFill>
                  <a:srgbClr val="030205"/>
                </a:solidFill>
                <a:latin typeface="Inter"/>
              </a:rPr>
              <a:t>Portal, rooms, posters</a:t>
            </a:r>
          </a:p>
        </p:txBody>
      </p:sp>
      <p:sp>
        <p:nvSpPr>
          <p:cNvPr id="14" name="TextBox 13"/>
          <p:cNvSpPr txBox="1"/>
          <p:nvPr/>
        </p:nvSpPr>
        <p:spPr>
          <a:xfrm>
            <a:off x="640080" y="5175503"/>
            <a:ext cx="6309360" cy="777240"/>
          </a:xfrm>
          <a:prstGeom prst="rect">
            <a:avLst/>
          </a:prstGeom>
          <a:noFill/>
        </p:spPr>
        <p:txBody>
          <a:bodyPr wrap="square">
            <a:spAutoFit/>
          </a:bodyPr>
          <a:lstStyle/>
          <a:p>
            <a:pPr algn="l"/>
            <a:r>
              <a:rPr sz="1200" b="0" i="0">
                <a:solidFill>
                  <a:srgbClr val="030205"/>
                </a:solidFill>
                <a:latin typeface="Inter"/>
              </a:rPr>
              <a:t>Register and file event proposals through the Saitsa Clubs Portal (portal.hellorubric.com). The SECC books campus rooms — the club does not. Meetings need a proposal at least two weeks ahead. Posters are tabloid 11×17, with the unaltered Saitsa Clubs logo, submitted at saitsa.com/Poster-Submission, and placed only on Saitsa General Poster Boards. Do not use the official SAIT logo.</a:t>
            </a:r>
          </a:p>
        </p:txBody>
      </p:sp>
      <p:sp>
        <p:nvSpPr>
          <p:cNvPr id="15" name="TextBox 14"/>
          <p:cNvSpPr txBox="1"/>
          <p:nvPr/>
        </p:nvSpPr>
        <p:spPr>
          <a:xfrm>
            <a:off x="640080" y="6016751"/>
            <a:ext cx="6309360" cy="292608"/>
          </a:xfrm>
          <a:prstGeom prst="rect">
            <a:avLst/>
          </a:prstGeom>
          <a:noFill/>
        </p:spPr>
        <p:txBody>
          <a:bodyPr wrap="square">
            <a:spAutoFit/>
          </a:bodyPr>
          <a:lstStyle/>
          <a:p>
            <a:pPr algn="l"/>
            <a:r>
              <a:rPr sz="1400" b="1" i="0">
                <a:solidFill>
                  <a:srgbClr val="030205"/>
                </a:solidFill>
                <a:latin typeface="Inter"/>
              </a:rPr>
              <a:t>Money, like we prompt</a:t>
            </a:r>
          </a:p>
        </p:txBody>
      </p:sp>
      <p:sp>
        <p:nvSpPr>
          <p:cNvPr id="16" name="TextBox 15"/>
          <p:cNvSpPr txBox="1"/>
          <p:nvPr/>
        </p:nvSpPr>
        <p:spPr>
          <a:xfrm>
            <a:off x="640080" y="6291071"/>
            <a:ext cx="6309360" cy="777240"/>
          </a:xfrm>
          <a:prstGeom prst="rect">
            <a:avLst/>
          </a:prstGeom>
          <a:noFill/>
        </p:spPr>
        <p:txBody>
          <a:bodyPr wrap="square">
            <a:spAutoFit/>
          </a:bodyPr>
          <a:lstStyle/>
          <a:p>
            <a:pPr algn="l"/>
            <a:r>
              <a:rPr sz="1200" b="0" i="0">
                <a:solidFill>
                  <a:srgbClr val="030205"/>
                </a:solidFill>
                <a:latin typeface="Inter"/>
              </a:rPr>
              <a:t>New clubs may claim up to $500 start-up reimbursement ($200 if returning); receipts within one month. Term grants can reach $5,000, prioritized for events over swag. Spend like we prompt: enough to do the work, nothing extra. Inform the SECC of any external monetary sponsorship. Unused grant funds are reclaimed after close-out.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08</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pic>
        <p:nvPicPr>
          <p:cNvPr id="6" name="Picture 5" descr="jellyfish.png"/>
          <p:cNvPicPr>
            <a:picLocks noChangeAspect="1"/>
          </p:cNvPicPr>
          <p:nvPr/>
        </p:nvPicPr>
        <p:blipFill>
          <a:blip r:embed="rId4"/>
          <a:stretch>
            <a:fillRect/>
          </a:stretch>
        </p:blipFill>
        <p:spPr>
          <a:xfrm>
            <a:off x="2880360" y="2926080"/>
            <a:ext cx="1848510" cy="2011680"/>
          </a:xfrm>
          <a:prstGeom prst="rect">
            <a:avLst/>
          </a:prstGeom>
        </p:spPr>
      </p:pic>
      <p:sp>
        <p:nvSpPr>
          <p:cNvPr id="7" name="TextBox 6"/>
          <p:cNvSpPr txBox="1"/>
          <p:nvPr/>
        </p:nvSpPr>
        <p:spPr>
          <a:xfrm>
            <a:off x="640080" y="5120640"/>
            <a:ext cx="6309360" cy="457200"/>
          </a:xfrm>
          <a:prstGeom prst="rect">
            <a:avLst/>
          </a:prstGeom>
          <a:noFill/>
        </p:spPr>
        <p:txBody>
          <a:bodyPr wrap="square">
            <a:spAutoFit/>
          </a:bodyPr>
          <a:lstStyle/>
          <a:p>
            <a:pPr algn="ctr"/>
            <a:r>
              <a:rPr sz="2800" b="1" i="0">
                <a:solidFill>
                  <a:srgbClr val="030205"/>
                </a:solidFill>
                <a:latin typeface="Inter"/>
              </a:rPr>
              <a:t>Executive Roles &amp;</a:t>
            </a:r>
          </a:p>
        </p:txBody>
      </p:sp>
      <p:sp>
        <p:nvSpPr>
          <p:cNvPr id="8" name="TextBox 7"/>
          <p:cNvSpPr txBox="1"/>
          <p:nvPr/>
        </p:nvSpPr>
        <p:spPr>
          <a:xfrm>
            <a:off x="640080" y="5623560"/>
            <a:ext cx="6309360" cy="457200"/>
          </a:xfrm>
          <a:prstGeom prst="rect">
            <a:avLst/>
          </a:prstGeom>
          <a:noFill/>
        </p:spPr>
        <p:txBody>
          <a:bodyPr wrap="square">
            <a:spAutoFit/>
          </a:bodyPr>
          <a:lstStyle/>
          <a:p>
            <a:pPr algn="ctr"/>
            <a:r>
              <a:rPr sz="2800" b="1" i="0">
                <a:solidFill>
                  <a:srgbClr val="030205"/>
                </a:solidFill>
                <a:latin typeface="Inter"/>
              </a:rPr>
              <a:t>Responsibilities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09</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Directors</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President — Strategic Lead &amp; Club Coordinator</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Keep the club organized, aligned, and progressing forward.</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Hold veto power for decisions affecting club direction or budget.</a:t>
            </a:r>
          </a:p>
          <a:p>
            <a:pPr>
              <a:spcAft>
                <a:spcPts val="400"/>
              </a:spcAft>
              <a:defRPr sz="1300">
                <a:solidFill>
                  <a:srgbClr val="030205"/>
                </a:solidFill>
                <a:latin typeface="Inter"/>
              </a:defRPr>
            </a:pPr>
            <a:r>
              <a:t>Set semester direction, themes, and goals around the foundations.</a:t>
            </a:r>
          </a:p>
          <a:p>
            <a:pPr>
              <a:spcAft>
                <a:spcPts val="400"/>
              </a:spcAft>
              <a:defRPr sz="1300">
                <a:solidFill>
                  <a:srgbClr val="030205"/>
                </a:solidFill>
                <a:latin typeface="Inter"/>
              </a:defRPr>
            </a:pPr>
            <a:r>
              <a:t>Arrange and lead executive meetings; prepare agendas.</a:t>
            </a:r>
          </a:p>
          <a:p>
            <a:pPr>
              <a:spcAft>
                <a:spcPts val="400"/>
              </a:spcAft>
              <a:defRPr sz="1300">
                <a:solidFill>
                  <a:srgbClr val="030205"/>
                </a:solidFill>
                <a:latin typeface="Inter"/>
              </a:defRPr>
            </a:pPr>
            <a:r>
              <a:t>Follow up with other execs on tasks and track deadlines.</a:t>
            </a:r>
          </a:p>
          <a:p>
            <a:pPr>
              <a:spcAft>
                <a:spcPts val="400"/>
              </a:spcAft>
              <a:defRPr sz="1300">
                <a:solidFill>
                  <a:srgbClr val="030205"/>
                </a:solidFill>
                <a:latin typeface="Inter"/>
              </a:defRPr>
            </a:pPr>
            <a:r>
              <a:t>Book rooms only through the SECC; manage logistics.</a:t>
            </a:r>
          </a:p>
          <a:p>
            <a:pPr>
              <a:spcAft>
                <a:spcPts val="400"/>
              </a:spcAft>
              <a:defRPr sz="1300">
                <a:solidFill>
                  <a:srgbClr val="030205"/>
                </a:solidFill>
                <a:latin typeface="Inter"/>
              </a:defRPr>
            </a:pPr>
            <a:r>
              <a:t>Monitor club email, Teams, Rubric, and official channels.</a:t>
            </a:r>
          </a:p>
          <a:p>
            <a:pPr>
              <a:spcAft>
                <a:spcPts val="400"/>
              </a:spcAft>
              <a:defRPr sz="1300">
                <a:solidFill>
                  <a:srgbClr val="030205"/>
                </a:solidFill>
                <a:latin typeface="Inter"/>
              </a:defRPr>
            </a:pPr>
            <a:r>
              <a:t>Navigate communication between execs during conflict.</a:t>
            </a:r>
          </a:p>
          <a:p>
            <a:pPr>
              <a:spcAft>
                <a:spcPts val="400"/>
              </a:spcAft>
              <a:defRPr sz="1300">
                <a:solidFill>
                  <a:srgbClr val="030205"/>
                </a:solidFill>
                <a:latin typeface="Inter"/>
              </a:defRPr>
            </a:pPr>
            <a:r>
              <a:t>Represent Unnatural Intelligence externally, including with Saitsa.</a:t>
            </a:r>
          </a:p>
          <a:p>
            <a:pPr>
              <a:spcAft>
                <a:spcPts val="400"/>
              </a:spcAft>
              <a:defRPr sz="1300">
                <a:solidFill>
                  <a:srgbClr val="030205"/>
                </a:solidFill>
                <a:latin typeface="Inter"/>
              </a:defRPr>
            </a:pPr>
            <a:r>
              <a:t>Ensure the three Saitsa signing authorities remain filled.</a:t>
            </a:r>
          </a:p>
          <a:p>
            <a:pPr>
              <a:spcAft>
                <a:spcPts val="400"/>
              </a:spcAft>
              <a:defRPr sz="1300">
                <a:solidFill>
                  <a:srgbClr val="030205"/>
                </a:solidFill>
                <a:latin typeface="Inter"/>
              </a:defRPr>
            </a:pPr>
            <a:r>
              <a:t>Notify the SECC of any executive change.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10</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Directors</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Vice-President Operations — Operations &amp; Visionary</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Aid overall direction and maintain operations in the absence of the president.</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Serve as secondary decision-maker when the president is unavailable.</a:t>
            </a:r>
          </a:p>
          <a:p>
            <a:pPr>
              <a:spcAft>
                <a:spcPts val="400"/>
              </a:spcAft>
              <a:defRPr sz="1300">
                <a:solidFill>
                  <a:srgbClr val="030205"/>
                </a:solidFill>
                <a:latin typeface="Inter"/>
              </a:defRPr>
            </a:pPr>
            <a:r>
              <a:t>Keep activity tied to destigmatising AI and the three foundations.</a:t>
            </a:r>
          </a:p>
          <a:p>
            <a:pPr>
              <a:spcAft>
                <a:spcPts val="400"/>
              </a:spcAft>
              <a:defRPr sz="1300">
                <a:solidFill>
                  <a:srgbClr val="030205"/>
                </a:solidFill>
                <a:latin typeface="Inter"/>
              </a:defRPr>
            </a:pPr>
            <a:r>
              <a:t>Record meeting minutes.</a:t>
            </a:r>
          </a:p>
          <a:p>
            <a:pPr>
              <a:spcAft>
                <a:spcPts val="400"/>
              </a:spcAft>
              <a:defRPr sz="1300">
                <a:solidFill>
                  <a:srgbClr val="030205"/>
                </a:solidFill>
                <a:latin typeface="Inter"/>
              </a:defRPr>
            </a:pPr>
            <a:r>
              <a:t>Maintain organization of documents.</a:t>
            </a:r>
          </a:p>
          <a:p>
            <a:pPr lvl="1">
              <a:spcAft>
                <a:spcPts val="400"/>
              </a:spcAft>
              <a:defRPr sz="1200">
                <a:solidFill>
                  <a:srgbClr val="030205"/>
                </a:solidFill>
                <a:latin typeface="Inter"/>
              </a:defRPr>
            </a:pPr>
            <a:r>
              <a:t>Event plans, budgets, and grant paperwork</a:t>
            </a:r>
          </a:p>
          <a:p>
            <a:pPr lvl="1">
              <a:spcAft>
                <a:spcPts val="400"/>
              </a:spcAft>
              <a:defRPr sz="1200">
                <a:solidFill>
                  <a:srgbClr val="030205"/>
                </a:solidFill>
                <a:latin typeface="Inter"/>
              </a:defRPr>
            </a:pPr>
            <a:r>
              <a:t>Saitsa forms, Rubric submissions, and transition notes</a:t>
            </a:r>
          </a:p>
          <a:p>
            <a:pPr>
              <a:spcAft>
                <a:spcPts val="400"/>
              </a:spcAft>
              <a:defRPr sz="1300">
                <a:solidFill>
                  <a:srgbClr val="030205"/>
                </a:solidFill>
                <a:latin typeface="Inter"/>
              </a:defRPr>
            </a:pPr>
            <a:r>
              <a:t>Help onboard new execs.</a:t>
            </a:r>
          </a:p>
          <a:p>
            <a:pPr>
              <a:spcAft>
                <a:spcPts val="400"/>
              </a:spcAft>
              <a:defRPr sz="1300">
                <a:solidFill>
                  <a:srgbClr val="030205"/>
                </a:solidFill>
                <a:latin typeface="Inter"/>
              </a:defRPr>
            </a:pPr>
            <a:r>
              <a:t>Monitor club email, Teams, Rubric, and official channels.</a:t>
            </a:r>
          </a:p>
          <a:p>
            <a:pPr>
              <a:spcAft>
                <a:spcPts val="400"/>
              </a:spcAft>
              <a:defRPr sz="1300">
                <a:solidFill>
                  <a:srgbClr val="030205"/>
                </a:solidFill>
                <a:latin typeface="Inter"/>
              </a:defRPr>
            </a:pPr>
            <a:r>
              <a:t>Represent Unnatural Intelligence externally.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11</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Directors</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Vice-President Finance — Budgeting &amp; Funding</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Manage club finances responsibly and transparently.</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Prepare semester budget forecasts.</a:t>
            </a:r>
          </a:p>
          <a:p>
            <a:pPr>
              <a:spcAft>
                <a:spcPts val="400"/>
              </a:spcAft>
              <a:defRPr sz="1300">
                <a:solidFill>
                  <a:srgbClr val="030205"/>
                </a:solidFill>
                <a:latin typeface="Inter"/>
              </a:defRPr>
            </a:pPr>
            <a:r>
              <a:t>Track expenses and maintain a ledger.</a:t>
            </a:r>
          </a:p>
          <a:p>
            <a:pPr>
              <a:spcAft>
                <a:spcPts val="400"/>
              </a:spcAft>
              <a:defRPr sz="1300">
                <a:solidFill>
                  <a:srgbClr val="030205"/>
                </a:solidFill>
                <a:latin typeface="Inter"/>
              </a:defRPr>
            </a:pPr>
            <a:r>
              <a:t>Manage the Saitsa-issued club bank account.</a:t>
            </a:r>
          </a:p>
          <a:p>
            <a:pPr lvl="1">
              <a:spcAft>
                <a:spcPts val="400"/>
              </a:spcAft>
              <a:defRPr sz="1200">
                <a:solidFill>
                  <a:srgbClr val="030205"/>
                </a:solidFill>
                <a:latin typeface="Inter"/>
              </a:defRPr>
            </a:pPr>
            <a:r>
              <a:t>Keep receipts for the full club year for possible audit.</a:t>
            </a:r>
          </a:p>
          <a:p>
            <a:pPr>
              <a:spcAft>
                <a:spcPts val="400"/>
              </a:spcAft>
              <a:defRPr sz="1300">
                <a:solidFill>
                  <a:srgbClr val="030205"/>
                </a:solidFill>
                <a:latin typeface="Inter"/>
              </a:defRPr>
            </a:pPr>
            <a:r>
              <a:t>Coordinate budgets with Events Coordinators.</a:t>
            </a:r>
          </a:p>
          <a:p>
            <a:pPr>
              <a:spcAft>
                <a:spcPts val="400"/>
              </a:spcAft>
              <a:defRPr sz="1300">
                <a:solidFill>
                  <a:srgbClr val="030205"/>
                </a:solidFill>
                <a:latin typeface="Inter"/>
              </a:defRPr>
            </a:pPr>
            <a:r>
              <a:t>Submit quotes and grant applications; never spend grant money before approval.</a:t>
            </a:r>
          </a:p>
          <a:p>
            <a:pPr>
              <a:spcAft>
                <a:spcPts val="400"/>
              </a:spcAft>
              <a:defRPr sz="1300">
                <a:solidFill>
                  <a:srgbClr val="030205"/>
                </a:solidFill>
                <a:latin typeface="Inter"/>
              </a:defRPr>
            </a:pPr>
            <a:r>
              <a:t>Apply for start-up reimbursement (up to $500 new / $200 returning) within one month of the receipt.</a:t>
            </a:r>
          </a:p>
          <a:p>
            <a:pPr>
              <a:spcAft>
                <a:spcPts val="400"/>
              </a:spcAft>
              <a:defRPr sz="1300">
                <a:solidFill>
                  <a:srgbClr val="030205"/>
                </a:solidFill>
                <a:latin typeface="Inter"/>
              </a:defRPr>
            </a:pPr>
            <a:r>
              <a:t>Spend like we prompt: enough to do the work, nothing extra.</a:t>
            </a:r>
          </a:p>
          <a:p>
            <a:pPr>
              <a:spcAft>
                <a:spcPts val="400"/>
              </a:spcAft>
              <a:defRPr sz="1300">
                <a:solidFill>
                  <a:srgbClr val="030205"/>
                </a:solidFill>
                <a:latin typeface="Inter"/>
              </a:defRPr>
            </a:pPr>
            <a:r>
              <a:t>Ensure purchases follow Saitsa and SAIT guidelines.</a:t>
            </a:r>
          </a:p>
          <a:p>
            <a:pPr>
              <a:spcAft>
                <a:spcPts val="400"/>
              </a:spcAft>
              <a:defRPr sz="1300">
                <a:solidFill>
                  <a:srgbClr val="030205"/>
                </a:solidFill>
                <a:latin typeface="Inter"/>
              </a:defRPr>
            </a:pPr>
            <a:r>
              <a:t>Inform the SECC of any external monetary sponsorship.</a:t>
            </a:r>
          </a:p>
          <a:p>
            <a:pPr>
              <a:spcAft>
                <a:spcPts val="400"/>
              </a:spcAft>
              <a:defRPr sz="1300">
                <a:solidFill>
                  <a:srgbClr val="030205"/>
                </a:solidFill>
                <a:latin typeface="Inter"/>
              </a:defRPr>
            </a:pPr>
            <a:r>
              <a:t>Reimburse members from the club account after approved spend.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12</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Marketing</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Social Media Lead (1–3 positions) — Communication &amp; Engagement</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Maintain active, engaging communication across platforms.</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Manage socials through regular, consistent posting and active replies.</a:t>
            </a:r>
          </a:p>
          <a:p>
            <a:pPr lvl="1">
              <a:spcAft>
                <a:spcPts val="400"/>
              </a:spcAft>
              <a:defRPr sz="1200">
                <a:solidFill>
                  <a:srgbClr val="030205"/>
                </a:solidFill>
                <a:latin typeface="Inter"/>
              </a:defRPr>
            </a:pPr>
            <a:r>
              <a:t>Instagram, Discord, Teams, Rubric / Saitsa Clubs Portal, LinkedIn</a:t>
            </a:r>
          </a:p>
          <a:p>
            <a:pPr>
              <a:spcAft>
                <a:spcPts val="400"/>
              </a:spcAft>
              <a:defRPr sz="1300">
                <a:solidFill>
                  <a:srgbClr val="030205"/>
                </a:solidFill>
                <a:latin typeface="Inter"/>
              </a:defRPr>
            </a:pPr>
            <a:r>
              <a:t>Independently create captions, announcements, recaps, stories, and engagement posts.</a:t>
            </a:r>
          </a:p>
          <a:p>
            <a:pPr>
              <a:spcAft>
                <a:spcPts val="400"/>
              </a:spcAft>
              <a:defRPr sz="1300">
                <a:solidFill>
                  <a:srgbClr val="030205"/>
                </a:solidFill>
                <a:latin typeface="Inter"/>
              </a:defRPr>
            </a:pPr>
            <a:r>
              <a:t>In collaboration with Graphic Designers create general promotion.</a:t>
            </a:r>
          </a:p>
          <a:p>
            <a:pPr>
              <a:spcAft>
                <a:spcPts val="400"/>
              </a:spcAft>
              <a:defRPr sz="1300">
                <a:solidFill>
                  <a:srgbClr val="030205"/>
                </a:solidFill>
                <a:latin typeface="Inter"/>
              </a:defRPr>
            </a:pPr>
            <a:r>
              <a:t>In collaboration with Graphic Designers and Event Coordination create event promotion.</a:t>
            </a:r>
          </a:p>
          <a:p>
            <a:pPr>
              <a:spcAft>
                <a:spcPts val="400"/>
              </a:spcAft>
              <a:defRPr sz="1300">
                <a:solidFill>
                  <a:srgbClr val="030205"/>
                </a:solidFill>
                <a:latin typeface="Inter"/>
              </a:defRPr>
            </a:pPr>
            <a:r>
              <a:t>Track and optimize engagement metrics.</a:t>
            </a:r>
          </a:p>
          <a:p>
            <a:pPr>
              <a:spcAft>
                <a:spcPts val="400"/>
              </a:spcAft>
              <a:defRPr sz="1300">
                <a:solidFill>
                  <a:srgbClr val="030205"/>
                </a:solidFill>
                <a:latin typeface="Inter"/>
              </a:defRPr>
            </a:pPr>
            <a:r>
              <a:t>Keep a human club voice — no unedited AI captions.</a:t>
            </a:r>
          </a:p>
          <a:p>
            <a:pPr>
              <a:spcAft>
                <a:spcPts val="400"/>
              </a:spcAft>
              <a:defRPr sz="1300">
                <a:solidFill>
                  <a:srgbClr val="030205"/>
                </a:solidFill>
                <a:latin typeface="Inter"/>
              </a:defRPr>
            </a:pPr>
            <a:r>
              <a:t>Publish lean-prompt tips, unused-use finds, and honest “i hate it but its so useful” moments.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13</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Marketing</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Graphic Designer (1–2 positions) — Visual Identity &amp; Creative Production</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Shape the club’s visual identity and produce design assets.</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Design graphics for social media and any general or event-specific promotional material.</a:t>
            </a:r>
          </a:p>
          <a:p>
            <a:pPr>
              <a:spcAft>
                <a:spcPts val="400"/>
              </a:spcAft>
              <a:defRPr sz="1300">
                <a:solidFill>
                  <a:srgbClr val="030205"/>
                </a:solidFill>
                <a:latin typeface="Inter"/>
              </a:defRPr>
            </a:pPr>
            <a:r>
              <a:t>Create templates for recurring content: posts, tabloid posters, presentations.</a:t>
            </a:r>
          </a:p>
          <a:p>
            <a:pPr>
              <a:spcAft>
                <a:spcPts val="400"/>
              </a:spcAft>
              <a:defRPr sz="1300">
                <a:solidFill>
                  <a:srgbClr val="030205"/>
                </a:solidFill>
                <a:latin typeface="Inter"/>
              </a:defRPr>
            </a:pPr>
            <a:r>
              <a:t>Use the vector kit: jellyfish, squiggle, icons, and badges — not a one-off teal spark.</a:t>
            </a:r>
          </a:p>
          <a:p>
            <a:pPr lvl="1">
              <a:spcAft>
                <a:spcPts val="400"/>
              </a:spcAft>
              <a:defRPr sz="1200">
                <a:solidFill>
                  <a:srgbClr val="030205"/>
                </a:solidFill>
                <a:latin typeface="Inter"/>
              </a:defRPr>
            </a:pPr>
            <a:r>
              <a:t>Posters are 11×17 with the unaltered Saitsa Clubs logo; submit before posting.</a:t>
            </a:r>
          </a:p>
          <a:p>
            <a:pPr>
              <a:spcAft>
                <a:spcPts val="400"/>
              </a:spcAft>
              <a:defRPr sz="1300">
                <a:solidFill>
                  <a:srgbClr val="030205"/>
                </a:solidFill>
                <a:latin typeface="Inter"/>
              </a:defRPr>
            </a:pPr>
            <a:r>
              <a:t>Ensure consistent and distinct branding; test and expand the kit.</a:t>
            </a:r>
          </a:p>
          <a:p>
            <a:pPr>
              <a:spcAft>
                <a:spcPts val="400"/>
              </a:spcAft>
              <a:defRPr sz="1300">
                <a:solidFill>
                  <a:srgbClr val="030205"/>
                </a:solidFill>
                <a:latin typeface="Inter"/>
              </a:defRPr>
            </a:pPr>
            <a:r>
              <a:t>AI may sketch; a human always finishes what gets published.</a:t>
            </a:r>
          </a:p>
          <a:p>
            <a:pPr>
              <a:spcAft>
                <a:spcPts val="400"/>
              </a:spcAft>
              <a:defRPr sz="1300">
                <a:solidFill>
                  <a:srgbClr val="030205"/>
                </a:solidFill>
                <a:latin typeface="Inter"/>
              </a:defRPr>
            </a:pPr>
            <a:r>
              <a:t>Do not use the official SAIT logo on club materials — student groups are not permitted 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14</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Events</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Events Coordinator (2 positions) — Planning &amp; Execution</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Plan and deliver high-quality events.</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Brainstorm and propose event ideas, including agenda, materials, and setup.</a:t>
            </a:r>
          </a:p>
          <a:p>
            <a:pPr>
              <a:spcAft>
                <a:spcPts val="400"/>
              </a:spcAft>
              <a:defRPr sz="1300">
                <a:solidFill>
                  <a:srgbClr val="030205"/>
                </a:solidFill>
                <a:latin typeface="Inter"/>
              </a:defRPr>
            </a:pPr>
            <a:r>
              <a:t>Name which foundation the event serves (untapped, workflow, or human/token).</a:t>
            </a:r>
          </a:p>
          <a:p>
            <a:pPr>
              <a:spcAft>
                <a:spcPts val="400"/>
              </a:spcAft>
              <a:defRPr sz="1300">
                <a:solidFill>
                  <a:srgbClr val="030205"/>
                </a:solidFill>
                <a:latin typeface="Inter"/>
              </a:defRPr>
            </a:pPr>
            <a:r>
              <a:t>Submit event proposals through the Saitsa Clubs Portal before promoting. Unapproved events are uninsured.</a:t>
            </a:r>
          </a:p>
          <a:p>
            <a:pPr>
              <a:spcAft>
                <a:spcPts val="400"/>
              </a:spcAft>
              <a:defRPr sz="1300">
                <a:solidFill>
                  <a:srgbClr val="030205"/>
                </a:solidFill>
                <a:latin typeface="Inter"/>
              </a:defRPr>
            </a:pPr>
            <a:r>
              <a:t>Coordinate with Finance on event budgets; do not plan events without funding.</a:t>
            </a:r>
          </a:p>
          <a:p>
            <a:pPr>
              <a:spcAft>
                <a:spcPts val="400"/>
              </a:spcAft>
              <a:defRPr sz="1300">
                <a:solidFill>
                  <a:srgbClr val="030205"/>
                </a:solidFill>
                <a:latin typeface="Inter"/>
              </a:defRPr>
            </a:pPr>
            <a:r>
              <a:t>Coordinate with Marketing for promotional materials.</a:t>
            </a:r>
          </a:p>
          <a:p>
            <a:pPr>
              <a:spcAft>
                <a:spcPts val="400"/>
              </a:spcAft>
              <a:defRPr sz="1300">
                <a:solidFill>
                  <a:srgbClr val="030205"/>
                </a:solidFill>
                <a:latin typeface="Inter"/>
              </a:defRPr>
            </a:pPr>
            <a:r>
              <a:t>Collaborate with Outreach to secure speakers.</a:t>
            </a:r>
          </a:p>
          <a:p>
            <a:pPr>
              <a:spcAft>
                <a:spcPts val="400"/>
              </a:spcAft>
              <a:defRPr sz="1300">
                <a:solidFill>
                  <a:srgbClr val="030205"/>
                </a:solidFill>
                <a:latin typeface="Inter"/>
              </a:defRPr>
            </a:pPr>
            <a:r>
              <a:t>Manage event logistics and oversee execution. The Primary Event Organizer stays for the full event.</a:t>
            </a:r>
          </a:p>
          <a:p>
            <a:pPr>
              <a:spcAft>
                <a:spcPts val="400"/>
              </a:spcAft>
              <a:defRPr sz="1300">
                <a:solidFill>
                  <a:srgbClr val="030205"/>
                </a:solidFill>
                <a:latin typeface="Inter"/>
              </a:defRPr>
            </a:pPr>
            <a:r>
              <a:t>Collect and compile feedback for future improvements.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15</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20040"/>
          </a:xfrm>
          <a:prstGeom prst="rect">
            <a:avLst/>
          </a:prstGeom>
          <a:noFill/>
        </p:spPr>
        <p:txBody>
          <a:bodyPr wrap="square">
            <a:spAutoFit/>
          </a:bodyPr>
          <a:lstStyle/>
          <a:p>
            <a:pPr algn="l"/>
            <a:r>
              <a:rPr sz="2000" b="1" i="0">
                <a:solidFill>
                  <a:srgbClr val="030205"/>
                </a:solidFill>
                <a:latin typeface="Inter"/>
              </a:rPr>
              <a:t>Events</a:t>
            </a:r>
          </a:p>
        </p:txBody>
      </p:sp>
      <p:sp>
        <p:nvSpPr>
          <p:cNvPr id="7" name="TextBox 6"/>
          <p:cNvSpPr txBox="1"/>
          <p:nvPr/>
        </p:nvSpPr>
        <p:spPr>
          <a:xfrm>
            <a:off x="640080" y="1417320"/>
            <a:ext cx="6309360" cy="411480"/>
          </a:xfrm>
          <a:prstGeom prst="rect">
            <a:avLst/>
          </a:prstGeom>
          <a:noFill/>
        </p:spPr>
        <p:txBody>
          <a:bodyPr wrap="square">
            <a:spAutoFit/>
          </a:bodyPr>
          <a:lstStyle/>
          <a:p>
            <a:pPr algn="l"/>
            <a:r>
              <a:rPr sz="1400" b="1" i="0">
                <a:solidFill>
                  <a:srgbClr val="030205"/>
                </a:solidFill>
                <a:latin typeface="Inter"/>
              </a:rPr>
              <a:t>Outreach &amp; Networking — External Communication</a:t>
            </a:r>
          </a:p>
        </p:txBody>
      </p:sp>
      <p:sp>
        <p:nvSpPr>
          <p:cNvPr id="8" name="TextBox 7"/>
          <p:cNvSpPr txBox="1"/>
          <p:nvPr/>
        </p:nvSpPr>
        <p:spPr>
          <a:xfrm>
            <a:off x="640080" y="1874519"/>
            <a:ext cx="6309360" cy="365760"/>
          </a:xfrm>
          <a:prstGeom prst="rect">
            <a:avLst/>
          </a:prstGeom>
          <a:noFill/>
        </p:spPr>
        <p:txBody>
          <a:bodyPr wrap="square">
            <a:spAutoFit/>
          </a:bodyPr>
          <a:lstStyle/>
          <a:p>
            <a:pPr algn="l"/>
            <a:r>
              <a:rPr sz="1200" b="0" i="0">
                <a:solidFill>
                  <a:srgbClr val="030205"/>
                </a:solidFill>
                <a:latin typeface="Inter"/>
              </a:rPr>
              <a:t>Core Purpose: Connect the club with speakers, partners, and opportunities.</a:t>
            </a:r>
          </a:p>
        </p:txBody>
      </p:sp>
      <p:sp>
        <p:nvSpPr>
          <p:cNvPr id="9" name="TextBox 8"/>
          <p:cNvSpPr txBox="1"/>
          <p:nvPr/>
        </p:nvSpPr>
        <p:spPr>
          <a:xfrm>
            <a:off x="640080" y="2240280"/>
            <a:ext cx="6309360" cy="274320"/>
          </a:xfrm>
          <a:prstGeom prst="rect">
            <a:avLst/>
          </a:prstGeom>
          <a:noFill/>
        </p:spPr>
        <p:txBody>
          <a:bodyPr wrap="square">
            <a:spAutoFit/>
          </a:bodyPr>
          <a:lstStyle/>
          <a:p>
            <a:pPr algn="l"/>
            <a:r>
              <a:rPr sz="1200" b="1" i="0">
                <a:solidFill>
                  <a:srgbClr val="030205"/>
                </a:solidFill>
                <a:latin typeface="Inter"/>
              </a:rPr>
              <a:t>Responsibilities:</a:t>
            </a:r>
          </a:p>
        </p:txBody>
      </p:sp>
      <p:sp>
        <p:nvSpPr>
          <p:cNvPr id="10" name="TextBox 9"/>
          <p:cNvSpPr txBox="1"/>
          <p:nvPr/>
        </p:nvSpPr>
        <p:spPr>
          <a:xfrm>
            <a:off x="640080" y="2560320"/>
            <a:ext cx="6309360" cy="6949440"/>
          </a:xfrm>
          <a:prstGeom prst="rect">
            <a:avLst/>
          </a:prstGeom>
          <a:noFill/>
        </p:spPr>
        <p:txBody>
          <a:bodyPr wrap="square">
            <a:spAutoFit/>
          </a:bodyPr>
          <a:lstStyle/>
          <a:p>
            <a:pPr>
              <a:spcAft>
                <a:spcPts val="400"/>
              </a:spcAft>
              <a:defRPr sz="1300">
                <a:solidFill>
                  <a:srgbClr val="030205"/>
                </a:solidFill>
                <a:latin typeface="Inter"/>
              </a:defRPr>
            </a:pPr>
            <a:r>
              <a:t>Reach out to potential speakers, collaborators, or partnerships.</a:t>
            </a:r>
          </a:p>
          <a:p>
            <a:pPr lvl="1">
              <a:spcAft>
                <a:spcPts val="400"/>
              </a:spcAft>
              <a:defRPr sz="1200">
                <a:solidFill>
                  <a:srgbClr val="030205"/>
                </a:solidFill>
                <a:latin typeface="Inter"/>
              </a:defRPr>
            </a:pPr>
            <a:r>
              <a:t>Draft outreach messages and negotiate presentation details.</a:t>
            </a:r>
          </a:p>
          <a:p>
            <a:pPr>
              <a:spcAft>
                <a:spcPts val="400"/>
              </a:spcAft>
              <a:defRPr sz="1300">
                <a:solidFill>
                  <a:srgbClr val="030205"/>
                </a:solidFill>
                <a:latin typeface="Inter"/>
              </a:defRPr>
            </a:pPr>
            <a:r>
              <a:t>Maintain a contact list.</a:t>
            </a:r>
          </a:p>
          <a:p>
            <a:pPr>
              <a:spcAft>
                <a:spcPts val="400"/>
              </a:spcAft>
              <a:defRPr sz="1300">
                <a:solidFill>
                  <a:srgbClr val="030205"/>
                </a:solidFill>
                <a:latin typeface="Inter"/>
              </a:defRPr>
            </a:pPr>
            <a:r>
              <a:t>Identify collaboration opportunities on campus and in Calgary industry.</a:t>
            </a:r>
          </a:p>
          <a:p>
            <a:pPr lvl="1">
              <a:spcAft>
                <a:spcPts val="400"/>
              </a:spcAft>
              <a:defRPr sz="1200">
                <a:solidFill>
                  <a:srgbClr val="030205"/>
                </a:solidFill>
                <a:latin typeface="Inter"/>
              </a:defRPr>
            </a:pPr>
            <a:r>
              <a:t>Find people whose real workflows still have unused AI potential.</a:t>
            </a:r>
          </a:p>
          <a:p>
            <a:pPr>
              <a:spcAft>
                <a:spcPts val="400"/>
              </a:spcAft>
              <a:defRPr sz="1300">
                <a:solidFill>
                  <a:srgbClr val="030205"/>
                </a:solidFill>
                <a:latin typeface="Inter"/>
              </a:defRPr>
            </a:pPr>
            <a:r>
              <a:t>Coordinate with Events Coordinators to plan and arrange guests.</a:t>
            </a:r>
          </a:p>
          <a:p>
            <a:pPr>
              <a:spcAft>
                <a:spcPts val="400"/>
              </a:spcAft>
              <a:defRPr sz="1300">
                <a:solidFill>
                  <a:srgbClr val="030205"/>
                </a:solidFill>
                <a:latin typeface="Inter"/>
              </a:defRPr>
            </a:pPr>
            <a:r>
              <a:t>In collaboration with Social Media Leads, manage LinkedIn connections.</a:t>
            </a:r>
          </a:p>
          <a:p>
            <a:pPr>
              <a:spcAft>
                <a:spcPts val="400"/>
              </a:spcAft>
              <a:defRPr sz="1300">
                <a:solidFill>
                  <a:srgbClr val="030205"/>
                </a:solidFill>
                <a:latin typeface="Inter"/>
              </a:defRPr>
            </a:pPr>
            <a:r>
              <a:t>Help identify a faculty advisor (encouraged; required if registered as academic).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16</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4754880"/>
            <a:ext cx="6309360" cy="457200"/>
          </a:xfrm>
          <a:prstGeom prst="rect">
            <a:avLst/>
          </a:prstGeom>
          <a:noFill/>
        </p:spPr>
        <p:txBody>
          <a:bodyPr wrap="square">
            <a:spAutoFit/>
          </a:bodyPr>
          <a:lstStyle/>
          <a:p>
            <a:pPr algn="ctr"/>
            <a:r>
              <a:rPr sz="2800" b="1" i="0">
                <a:solidFill>
                  <a:srgbClr val="030205"/>
                </a:solidFill>
                <a:latin typeface="Inter"/>
              </a:rPr>
              <a:t>Event Concepts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17</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97280"/>
            <a:ext cx="6309360" cy="457200"/>
          </a:xfrm>
          <a:prstGeom prst="rect">
            <a:avLst/>
          </a:prstGeom>
          <a:noFill/>
        </p:spPr>
        <p:txBody>
          <a:bodyPr wrap="square">
            <a:spAutoFit/>
          </a:bodyPr>
          <a:lstStyle/>
          <a:p>
            <a:pPr algn="l"/>
            <a:r>
              <a:rPr sz="1600" b="1" i="0">
                <a:solidFill>
                  <a:srgbClr val="030205"/>
                </a:solidFill>
                <a:latin typeface="Inter"/>
              </a:rPr>
              <a:t>Untapped Potential</a:t>
            </a:r>
          </a:p>
        </p:txBody>
      </p:sp>
      <p:sp>
        <p:nvSpPr>
          <p:cNvPr id="7" name="TextBox 6"/>
          <p:cNvSpPr txBox="1"/>
          <p:nvPr/>
        </p:nvSpPr>
        <p:spPr>
          <a:xfrm>
            <a:off x="640080" y="1554480"/>
            <a:ext cx="6309360" cy="3291840"/>
          </a:xfrm>
          <a:prstGeom prst="rect">
            <a:avLst/>
          </a:prstGeom>
          <a:noFill/>
        </p:spPr>
        <p:txBody>
          <a:bodyPr wrap="square">
            <a:spAutoFit/>
          </a:bodyPr>
          <a:lstStyle/>
          <a:p>
            <a:pPr>
              <a:spcAft>
                <a:spcPts val="400"/>
              </a:spcAft>
              <a:defRPr sz="1300">
                <a:solidFill>
                  <a:srgbClr val="030205"/>
                </a:solidFill>
                <a:latin typeface="Inter"/>
              </a:defRPr>
            </a:pPr>
            <a:r>
              <a:t>“What’s this button for?” nights: one tool, the features nobody opens.</a:t>
            </a:r>
          </a:p>
          <a:p>
            <a:pPr>
              <a:spcAft>
                <a:spcPts val="400"/>
              </a:spcAft>
              <a:defRPr sz="1300">
                <a:solidFill>
                  <a:srgbClr val="030205"/>
                </a:solidFill>
                <a:latin typeface="Inter"/>
              </a:defRPr>
            </a:pPr>
            <a:r>
              <a:t>Multimodal labs: a shop-floor photo, a schematic, a messy syllabus, a voice note.</a:t>
            </a:r>
          </a:p>
          <a:p>
            <a:pPr>
              <a:spcAft>
                <a:spcPts val="400"/>
              </a:spcAft>
              <a:defRPr sz="1300">
                <a:solidFill>
                  <a:srgbClr val="030205"/>
                </a:solidFill>
                <a:latin typeface="Inter"/>
              </a:defRPr>
            </a:pPr>
            <a:r>
              <a:t>Build a tiny assistant for one recurring student task — then delete it if it is not used.</a:t>
            </a:r>
          </a:p>
          <a:p>
            <a:pPr>
              <a:spcAft>
                <a:spcPts val="400"/>
              </a:spcAft>
              <a:defRPr sz="1300">
                <a:solidFill>
                  <a:srgbClr val="030205"/>
                </a:solidFill>
                <a:latin typeface="Inter"/>
              </a:defRPr>
            </a:pPr>
            <a:r>
              <a:t>Cross-program “I didn’t know it could do that” demos.</a:t>
            </a:r>
          </a:p>
          <a:p>
            <a:pPr>
              <a:spcAft>
                <a:spcPts val="400"/>
              </a:spcAft>
              <a:defRPr sz="1300">
                <a:solidFill>
                  <a:srgbClr val="030205"/>
                </a:solidFill>
                <a:latin typeface="Inter"/>
              </a:defRPr>
            </a:pPr>
            <a:r>
              <a:t>Failed-experiment night: the prompt that looked clever and did nothing.</a:t>
            </a:r>
          </a:p>
        </p:txBody>
      </p:sp>
      <p:sp>
        <p:nvSpPr>
          <p:cNvPr id="8" name="TextBox 7"/>
          <p:cNvSpPr txBox="1"/>
          <p:nvPr/>
        </p:nvSpPr>
        <p:spPr>
          <a:xfrm>
            <a:off x="640080" y="5120640"/>
            <a:ext cx="6309360" cy="457200"/>
          </a:xfrm>
          <a:prstGeom prst="rect">
            <a:avLst/>
          </a:prstGeom>
          <a:noFill/>
        </p:spPr>
        <p:txBody>
          <a:bodyPr wrap="square">
            <a:spAutoFit/>
          </a:bodyPr>
          <a:lstStyle/>
          <a:p>
            <a:pPr algn="l"/>
            <a:r>
              <a:rPr sz="1600" b="1" i="0">
                <a:solidFill>
                  <a:srgbClr val="030205"/>
                </a:solidFill>
                <a:latin typeface="Inter"/>
              </a:rPr>
              <a:t>Workflow Integration</a:t>
            </a:r>
          </a:p>
        </p:txBody>
      </p:sp>
      <p:sp>
        <p:nvSpPr>
          <p:cNvPr id="9" name="TextBox 8"/>
          <p:cNvSpPr txBox="1"/>
          <p:nvPr/>
        </p:nvSpPr>
        <p:spPr>
          <a:xfrm>
            <a:off x="640080" y="5623560"/>
            <a:ext cx="6309360" cy="3840480"/>
          </a:xfrm>
          <a:prstGeom prst="rect">
            <a:avLst/>
          </a:prstGeom>
          <a:noFill/>
        </p:spPr>
        <p:txBody>
          <a:bodyPr wrap="square">
            <a:spAutoFit/>
          </a:bodyPr>
          <a:lstStyle/>
          <a:p>
            <a:pPr>
              <a:spcAft>
                <a:spcPts val="400"/>
              </a:spcAft>
              <a:defRPr sz="1300">
                <a:solidFill>
                  <a:srgbClr val="030205"/>
                </a:solidFill>
                <a:latin typeface="Inter"/>
              </a:defRPr>
            </a:pPr>
            <a:r>
              <a:t>Bring Your Tuesday: rebuild a real day (class, shift, job hunt) with AI in the loop.</a:t>
            </a:r>
          </a:p>
          <a:p>
            <a:pPr>
              <a:spcAft>
                <a:spcPts val="400"/>
              </a:spcAft>
              <a:defRPr sz="1300">
                <a:solidFill>
                  <a:srgbClr val="030205"/>
                </a:solidFill>
                <a:latin typeface="Inter"/>
              </a:defRPr>
            </a:pPr>
            <a:r>
              <a:t>Syllabus to system: one course, one stack, one week of use.</a:t>
            </a:r>
          </a:p>
          <a:p>
            <a:pPr>
              <a:spcAft>
                <a:spcPts val="400"/>
              </a:spcAft>
              <a:defRPr sz="1300">
                <a:solidFill>
                  <a:srgbClr val="030205"/>
                </a:solidFill>
                <a:latin typeface="Inter"/>
              </a:defRPr>
            </a:pPr>
            <a:r>
              <a:t>Two-week Daily Driver challenge: keep only the workflow you still open on day 14.</a:t>
            </a:r>
          </a:p>
          <a:p>
            <a:pPr>
              <a:spcAft>
                <a:spcPts val="400"/>
              </a:spcAft>
              <a:defRPr sz="1300">
                <a:solidFill>
                  <a:srgbClr val="030205"/>
                </a:solidFill>
                <a:latin typeface="Inter"/>
              </a:defRPr>
            </a:pPr>
            <a:r>
              <a:t>Workflow swap: pair with a student from another program and steal one habit.</a:t>
            </a:r>
          </a:p>
          <a:p>
            <a:pPr>
              <a:spcAft>
                <a:spcPts val="400"/>
              </a:spcAft>
              <a:defRPr sz="1300">
                <a:solidFill>
                  <a:srgbClr val="030205"/>
                </a:solidFill>
                <a:latin typeface="Inter"/>
              </a:defRPr>
            </a:pPr>
            <a:r>
              <a:t>Student-led: host a session on the workflow you actually use, not a tool tour.</a:t>
            </a:r>
          </a:p>
          <a:p>
            <a:pPr>
              <a:spcAft>
                <a:spcPts val="400"/>
              </a:spcAft>
              <a:defRPr sz="1300">
                <a:solidFill>
                  <a:srgbClr val="030205"/>
                </a:solidFill>
                <a:latin typeface="Inter"/>
              </a:defRPr>
            </a:pPr>
            <a:r>
              <a:t>End of semester Daily Driver showcase — the habit that survived, not the flashiest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18</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97280"/>
            <a:ext cx="6309360" cy="457200"/>
          </a:xfrm>
          <a:prstGeom prst="rect">
            <a:avLst/>
          </a:prstGeom>
          <a:noFill/>
        </p:spPr>
        <p:txBody>
          <a:bodyPr wrap="square">
            <a:spAutoFit/>
          </a:bodyPr>
          <a:lstStyle/>
          <a:p>
            <a:pPr algn="l"/>
            <a:r>
              <a:rPr sz="1600" b="1" i="0">
                <a:solidFill>
                  <a:srgbClr val="030205"/>
                </a:solidFill>
                <a:latin typeface="Inter"/>
              </a:rPr>
              <a:t>Token Craft &amp; Human Touch</a:t>
            </a:r>
          </a:p>
        </p:txBody>
      </p:sp>
      <p:sp>
        <p:nvSpPr>
          <p:cNvPr id="7" name="TextBox 6"/>
          <p:cNvSpPr txBox="1"/>
          <p:nvPr/>
        </p:nvSpPr>
        <p:spPr>
          <a:xfrm>
            <a:off x="640080" y="1554480"/>
            <a:ext cx="6309360" cy="4023360"/>
          </a:xfrm>
          <a:prstGeom prst="rect">
            <a:avLst/>
          </a:prstGeom>
          <a:noFill/>
        </p:spPr>
        <p:txBody>
          <a:bodyPr wrap="square">
            <a:spAutoFit/>
          </a:bodyPr>
          <a:lstStyle/>
          <a:p>
            <a:pPr>
              <a:spcAft>
                <a:spcPts val="400"/>
              </a:spcAft>
              <a:defRPr sz="1300">
                <a:solidFill>
                  <a:srgbClr val="030205"/>
                </a:solidFill>
                <a:latin typeface="Inter"/>
              </a:defRPr>
            </a:pPr>
            <a:r>
              <a:t>Token Diet: same outcome, fewer tokens. Publish the before/after prompt.</a:t>
            </a:r>
          </a:p>
          <a:p>
            <a:pPr>
              <a:spcAft>
                <a:spcPts val="400"/>
              </a:spcAft>
              <a:defRPr sz="1300">
                <a:solidFill>
                  <a:srgbClr val="030205"/>
                </a:solidFill>
                <a:latin typeface="Inter"/>
              </a:defRPr>
            </a:pPr>
            <a:r>
              <a:t>Human Finish Studio: take a generic draft and edit until it sounds like you.</a:t>
            </a:r>
          </a:p>
          <a:p>
            <a:pPr>
              <a:spcAft>
                <a:spcPts val="400"/>
              </a:spcAft>
              <a:defRPr sz="1300">
                <a:solidFill>
                  <a:srgbClr val="030205"/>
                </a:solidFill>
                <a:latin typeface="Inter"/>
              </a:defRPr>
            </a:pPr>
            <a:r>
              <a:t>“Don’t send that” clinic: catch the telltale AI voice before it hits an inbox.</a:t>
            </a:r>
          </a:p>
          <a:p>
            <a:pPr>
              <a:spcAft>
                <a:spcPts val="400"/>
              </a:spcAft>
              <a:defRPr sz="1300">
                <a:solidFill>
                  <a:srgbClr val="030205"/>
                </a:solidFill>
                <a:latin typeface="Inter"/>
              </a:defRPr>
            </a:pPr>
            <a:r>
              <a:t>Halt &amp; Restart: a live prompting lab. Write it tight. If the model drifts, halt and restart.</a:t>
            </a:r>
          </a:p>
          <a:p>
            <a:pPr>
              <a:spcAft>
                <a:spcPts val="400"/>
              </a:spcAft>
              <a:defRPr sz="1300">
                <a:solidFill>
                  <a:srgbClr val="030205"/>
                </a:solidFill>
                <a:latin typeface="Inter"/>
              </a:defRPr>
            </a:pPr>
            <a:r>
              <a:t>When not to generate — academic integrity as keeping the human accountable.</a:t>
            </a:r>
          </a:p>
          <a:p>
            <a:pPr>
              <a:spcAft>
                <a:spcPts val="400"/>
              </a:spcAft>
              <a:defRPr sz="1300">
                <a:solidFill>
                  <a:srgbClr val="030205"/>
                </a:solidFill>
                <a:latin typeface="Inter"/>
              </a:defRPr>
            </a:pPr>
            <a:r>
              <a:t>Blind taste tests: human, machine, and human-finished side by side.</a:t>
            </a:r>
          </a:p>
        </p:txBody>
      </p:sp>
      <p:sp>
        <p:nvSpPr>
          <p:cNvPr id="8" name="TextBox 7"/>
          <p:cNvSpPr txBox="1"/>
          <p:nvPr/>
        </p:nvSpPr>
        <p:spPr>
          <a:xfrm>
            <a:off x="640080" y="5852160"/>
            <a:ext cx="6309360" cy="365760"/>
          </a:xfrm>
          <a:prstGeom prst="rect">
            <a:avLst/>
          </a:prstGeom>
          <a:noFill/>
        </p:spPr>
        <p:txBody>
          <a:bodyPr wrap="square">
            <a:spAutoFit/>
          </a:bodyPr>
          <a:lstStyle/>
          <a:p>
            <a:pPr algn="l"/>
            <a:r>
              <a:rPr sz="1600" b="1" i="0">
                <a:solidFill>
                  <a:srgbClr val="030205"/>
                </a:solidFill>
                <a:latin typeface="Inter"/>
              </a:rPr>
              <a:t>Mixer events</a:t>
            </a:r>
          </a:p>
        </p:txBody>
      </p:sp>
      <p:sp>
        <p:nvSpPr>
          <p:cNvPr id="9" name="TextBox 8"/>
          <p:cNvSpPr txBox="1"/>
          <p:nvPr/>
        </p:nvSpPr>
        <p:spPr>
          <a:xfrm>
            <a:off x="640080" y="6263640"/>
            <a:ext cx="6309360" cy="3291840"/>
          </a:xfrm>
          <a:prstGeom prst="rect">
            <a:avLst/>
          </a:prstGeom>
          <a:noFill/>
        </p:spPr>
        <p:txBody>
          <a:bodyPr wrap="square">
            <a:spAutoFit/>
          </a:bodyPr>
          <a:lstStyle/>
          <a:p>
            <a:pPr>
              <a:spcAft>
                <a:spcPts val="400"/>
              </a:spcAft>
              <a:defRPr sz="1300">
                <a:solidFill>
                  <a:srgbClr val="030205"/>
                </a:solidFill>
                <a:latin typeface="Inter"/>
              </a:defRPr>
            </a:pPr>
            <a:r>
              <a:t>Game nights (phones down for a stretch — practice being the human in the room).</a:t>
            </a:r>
          </a:p>
          <a:p>
            <a:pPr>
              <a:spcAft>
                <a:spcPts val="400"/>
              </a:spcAft>
              <a:defRPr sz="1300">
                <a:solidFill>
                  <a:srgbClr val="030205"/>
                </a:solidFill>
                <a:latin typeface="Inter"/>
              </a:defRPr>
            </a:pPr>
            <a:r>
              <a:t>Live labs and workshops from the badge kit, not just slide decks.</a:t>
            </a:r>
          </a:p>
          <a:p>
            <a:pPr>
              <a:spcAft>
                <a:spcPts val="400"/>
              </a:spcAft>
              <a:defRPr sz="1300">
                <a:solidFill>
                  <a:srgbClr val="030205"/>
                </a:solidFill>
                <a:latin typeface="Inter"/>
              </a:defRPr>
            </a:pPr>
            <a:r>
              <a:t>Lean-token jams and Unnatural-thons with a published brief and a token budget.</a:t>
            </a:r>
          </a:p>
          <a:p>
            <a:pPr>
              <a:spcAft>
                <a:spcPts val="400"/>
              </a:spcAft>
              <a:defRPr sz="1300">
                <a:solidFill>
                  <a:srgbClr val="030205"/>
                </a:solidFill>
                <a:latin typeface="Inter"/>
              </a:defRPr>
            </a:pPr>
            <a:r>
              <a:t>Lunch &amp; learns and industry nights with people who kept a workflow, not a slide deck.</a:t>
            </a:r>
          </a:p>
          <a:p>
            <a:pPr>
              <a:spcAft>
                <a:spcPts val="400"/>
              </a:spcAft>
              <a:defRPr sz="1300">
                <a:solidFill>
                  <a:srgbClr val="030205"/>
                </a:solidFill>
                <a:latin typeface="Inter"/>
              </a:defRPr>
            </a:pPr>
            <a:r>
              <a:t>Clubs Expo / Clubs Showcase tables in fall and winter.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19</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97280"/>
            <a:ext cx="6309360" cy="365760"/>
          </a:xfrm>
          <a:prstGeom prst="rect">
            <a:avLst/>
          </a:prstGeom>
          <a:noFill/>
        </p:spPr>
        <p:txBody>
          <a:bodyPr wrap="square">
            <a:spAutoFit/>
          </a:bodyPr>
          <a:lstStyle/>
          <a:p>
            <a:pPr algn="ctr"/>
            <a:r>
              <a:rPr sz="2200" b="1" i="0">
                <a:solidFill>
                  <a:srgbClr val="030205"/>
                </a:solidFill>
                <a:latin typeface="Inter"/>
              </a:rPr>
              <a:t>This Year on Campus</a:t>
            </a:r>
          </a:p>
        </p:txBody>
      </p:sp>
      <p:sp>
        <p:nvSpPr>
          <p:cNvPr id="7" name="TextBox 6"/>
          <p:cNvSpPr txBox="1"/>
          <p:nvPr/>
        </p:nvSpPr>
        <p:spPr>
          <a:xfrm>
            <a:off x="640080" y="1645920"/>
            <a:ext cx="6309360" cy="5029200"/>
          </a:xfrm>
          <a:prstGeom prst="rect">
            <a:avLst/>
          </a:prstGeom>
          <a:noFill/>
        </p:spPr>
        <p:txBody>
          <a:bodyPr wrap="square">
            <a:spAutoFit/>
          </a:bodyPr>
          <a:lstStyle/>
          <a:p>
            <a:pPr>
              <a:spcAft>
                <a:spcPts val="400"/>
              </a:spcAft>
              <a:defRPr sz="1400">
                <a:solidFill>
                  <a:srgbClr val="030205"/>
                </a:solidFill>
                <a:latin typeface="Inter"/>
              </a:defRPr>
            </a:pPr>
            <a:r>
              <a:t>15 September 2026 — Saitsa Clubs Orientation</a:t>
            </a:r>
          </a:p>
          <a:p>
            <a:pPr>
              <a:spcAft>
                <a:spcPts val="400"/>
              </a:spcAft>
              <a:defRPr sz="1400">
                <a:solidFill>
                  <a:srgbClr val="030205"/>
                </a:solidFill>
                <a:latin typeface="Inter"/>
              </a:defRPr>
            </a:pPr>
            <a:r>
              <a:t>18 September 2026 — Halt &amp; Restart — live prompting lab (club event)</a:t>
            </a:r>
          </a:p>
          <a:p>
            <a:pPr>
              <a:spcAft>
                <a:spcPts val="400"/>
              </a:spcAft>
              <a:defRPr sz="1400">
                <a:solidFill>
                  <a:srgbClr val="030205"/>
                </a:solidFill>
                <a:latin typeface="Inter"/>
              </a:defRPr>
            </a:pPr>
            <a:r>
              <a:t>13–14 October 2026 — Clubs Fall Showcase (Expo)</a:t>
            </a:r>
          </a:p>
          <a:p>
            <a:pPr>
              <a:spcAft>
                <a:spcPts val="400"/>
              </a:spcAft>
              <a:defRPr sz="1400">
                <a:solidFill>
                  <a:srgbClr val="030205"/>
                </a:solidFill>
                <a:latin typeface="Inter"/>
              </a:defRPr>
            </a:pPr>
            <a:r>
              <a:t>13 January 2027 — Clubs Orientation (winter)</a:t>
            </a:r>
          </a:p>
          <a:p>
            <a:pPr>
              <a:spcAft>
                <a:spcPts val="400"/>
              </a:spcAft>
              <a:defRPr sz="1400">
                <a:solidFill>
                  <a:srgbClr val="030205"/>
                </a:solidFill>
                <a:latin typeface="Inter"/>
              </a:defRPr>
            </a:pPr>
            <a:r>
              <a:t>27–28 January 2027 — Clubs Winter Showcase (Expo)</a:t>
            </a:r>
          </a:p>
          <a:p>
            <a:pPr>
              <a:spcAft>
                <a:spcPts val="400"/>
              </a:spcAft>
              <a:defRPr sz="1400">
                <a:solidFill>
                  <a:srgbClr val="030205"/>
                </a:solidFill>
                <a:latin typeface="Inter"/>
              </a:defRPr>
            </a:pPr>
            <a:r>
              <a:t>11 March 2027 — Clubs Council Meeting</a:t>
            </a:r>
          </a:p>
          <a:p>
            <a:pPr>
              <a:spcAft>
                <a:spcPts val="400"/>
              </a:spcAft>
              <a:defRPr sz="1400">
                <a:solidFill>
                  <a:srgbClr val="030205"/>
                </a:solidFill>
                <a:latin typeface="Inter"/>
              </a:defRPr>
            </a:pPr>
            <a:r>
              <a:t>11 April 2027 — Annual reports and transition documents due</a:t>
            </a:r>
          </a:p>
          <a:p>
            <a:pPr>
              <a:spcAft>
                <a:spcPts val="400"/>
              </a:spcAft>
              <a:defRPr sz="1400">
                <a:solidFill>
                  <a:srgbClr val="030205"/>
                </a:solidFill>
                <a:latin typeface="Inter"/>
              </a:defRPr>
            </a:pPr>
            <a:r>
              <a:t>30 June 2027 — End of Saitsa Clubs fiscal year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ader.png"/>
          <p:cNvPicPr>
            <a:picLocks noChangeAspect="1"/>
          </p:cNvPicPr>
          <p:nvPr/>
        </p:nvPicPr>
        <p:blipFill>
          <a:blip r:embed="rId2"/>
          <a:stretch>
            <a:fillRect/>
          </a:stretch>
        </p:blipFill>
        <p:spPr>
          <a:xfrm>
            <a:off x="146304" y="73152"/>
            <a:ext cx="7269480" cy="692331"/>
          </a:xfrm>
          <a:prstGeom prst="rect">
            <a:avLst/>
          </a:prstGeom>
        </p:spPr>
      </p:pic>
      <p:sp>
        <p:nvSpPr>
          <p:cNvPr id="4" name="TextBox 3"/>
          <p:cNvSpPr txBox="1"/>
          <p:nvPr/>
        </p:nvSpPr>
        <p:spPr>
          <a:xfrm>
            <a:off x="0" y="10222992"/>
            <a:ext cx="7562088" cy="201168"/>
          </a:xfrm>
          <a:prstGeom prst="rect">
            <a:avLst/>
          </a:prstGeom>
          <a:noFill/>
        </p:spPr>
        <p:txBody>
          <a:bodyPr wrap="none">
            <a:spAutoFit/>
          </a:bodyPr>
          <a:lstStyle/>
          <a:p>
            <a:pPr algn="ctr"/>
            <a:r>
              <a:rPr sz="1000" b="1">
                <a:solidFill>
                  <a:srgbClr val="591337"/>
                </a:solidFill>
                <a:latin typeface="JetBrains Mono"/>
              </a:rPr>
              <a:t>20</a:t>
            </a:r>
          </a:p>
        </p:txBody>
      </p:sp>
      <p:pic>
        <p:nvPicPr>
          <p:cNvPr id="5" name="Picture 4" descr="jellyfish-mini.png"/>
          <p:cNvPicPr>
            <a:picLocks noChangeAspect="1"/>
          </p:cNvPicPr>
          <p:nvPr/>
        </p:nvPicPr>
        <p:blipFill>
          <a:blip r:embed="rId3"/>
          <a:stretch>
            <a:fillRect/>
          </a:stretch>
        </p:blipFill>
        <p:spPr>
          <a:xfrm>
            <a:off x="3616452" y="10314432"/>
            <a:ext cx="329184" cy="407839"/>
          </a:xfrm>
          <a:prstGeom prst="rect">
            <a:avLst/>
          </a:prstGeom>
        </p:spPr>
      </p:pic>
      <p:sp>
        <p:nvSpPr>
          <p:cNvPr id="6" name="TextBox 5"/>
          <p:cNvSpPr txBox="1"/>
          <p:nvPr/>
        </p:nvSpPr>
        <p:spPr>
          <a:xfrm>
            <a:off x="640080" y="1051560"/>
            <a:ext cx="6309360" cy="365760"/>
          </a:xfrm>
          <a:prstGeom prst="rect">
            <a:avLst/>
          </a:prstGeom>
          <a:noFill/>
        </p:spPr>
        <p:txBody>
          <a:bodyPr wrap="square">
            <a:spAutoFit/>
          </a:bodyPr>
          <a:lstStyle/>
          <a:p>
            <a:pPr algn="ctr"/>
            <a:r>
              <a:rPr sz="2000" b="1" i="0">
                <a:solidFill>
                  <a:srgbClr val="030205"/>
                </a:solidFill>
                <a:latin typeface="Inter"/>
              </a:rPr>
              <a:t>Unnatural Intelligence Style Guide</a:t>
            </a:r>
          </a:p>
        </p:txBody>
      </p:sp>
      <p:pic>
        <p:nvPicPr>
          <p:cNvPr id="7" name="Picture 6" descr="jellyfish.png"/>
          <p:cNvPicPr>
            <a:picLocks noChangeAspect="1"/>
          </p:cNvPicPr>
          <p:nvPr/>
        </p:nvPicPr>
        <p:blipFill>
          <a:blip r:embed="rId4"/>
          <a:stretch>
            <a:fillRect/>
          </a:stretch>
        </p:blipFill>
        <p:spPr>
          <a:xfrm>
            <a:off x="2880360" y="1554480"/>
            <a:ext cx="1512418" cy="1645920"/>
          </a:xfrm>
          <a:prstGeom prst="rect">
            <a:avLst/>
          </a:prstGeom>
        </p:spPr>
      </p:pic>
      <p:sp>
        <p:nvSpPr>
          <p:cNvPr id="8" name="Rounded Rectangle 7"/>
          <p:cNvSpPr/>
          <p:nvPr/>
        </p:nvSpPr>
        <p:spPr>
          <a:xfrm>
            <a:off x="699516" y="3474720"/>
            <a:ext cx="1417320" cy="658368"/>
          </a:xfrm>
          <a:prstGeom prst="roundRect">
            <a:avLst/>
          </a:prstGeom>
          <a:solidFill>
            <a:srgbClr val="F9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30205"/>
                </a:solidFill>
                <a:latin typeface="JetBrains Mono"/>
              </a:rPr>
              <a:t>#F9F9FA</a:t>
            </a:r>
          </a:p>
        </p:txBody>
      </p:sp>
      <p:sp>
        <p:nvSpPr>
          <p:cNvPr id="9" name="Rounded Rectangle 8"/>
          <p:cNvSpPr/>
          <p:nvPr/>
        </p:nvSpPr>
        <p:spPr>
          <a:xfrm>
            <a:off x="2281428" y="3474720"/>
            <a:ext cx="1417320" cy="658368"/>
          </a:xfrm>
          <a:prstGeom prst="roundRect">
            <a:avLst/>
          </a:prstGeom>
          <a:solidFill>
            <a:srgbClr val="95B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30205"/>
                </a:solidFill>
                <a:latin typeface="JetBrains Mono"/>
              </a:rPr>
              <a:t>#95B747</a:t>
            </a:r>
          </a:p>
        </p:txBody>
      </p:sp>
      <p:sp>
        <p:nvSpPr>
          <p:cNvPr id="10" name="Rounded Rectangle 9"/>
          <p:cNvSpPr/>
          <p:nvPr/>
        </p:nvSpPr>
        <p:spPr>
          <a:xfrm>
            <a:off x="3863340" y="3474720"/>
            <a:ext cx="1417320" cy="658368"/>
          </a:xfrm>
          <a:prstGeom prst="roundRect">
            <a:avLst/>
          </a:prstGeom>
          <a:solidFill>
            <a:srgbClr val="0302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JetBrains Mono"/>
              </a:rPr>
              <a:t>#030205</a:t>
            </a:r>
          </a:p>
        </p:txBody>
      </p:sp>
      <p:sp>
        <p:nvSpPr>
          <p:cNvPr id="11" name="Rounded Rectangle 10"/>
          <p:cNvSpPr/>
          <p:nvPr/>
        </p:nvSpPr>
        <p:spPr>
          <a:xfrm>
            <a:off x="5445252" y="3474720"/>
            <a:ext cx="1417320" cy="658368"/>
          </a:xfrm>
          <a:prstGeom prst="roundRect">
            <a:avLst/>
          </a:prstGeom>
          <a:solidFill>
            <a:srgbClr val="F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JetBrains Mono"/>
              </a:rPr>
              <a:t>#FA4A9E</a:t>
            </a:r>
          </a:p>
        </p:txBody>
      </p:sp>
      <p:sp>
        <p:nvSpPr>
          <p:cNvPr id="12" name="Rounded Rectangle 11"/>
          <p:cNvSpPr/>
          <p:nvPr/>
        </p:nvSpPr>
        <p:spPr>
          <a:xfrm>
            <a:off x="1490472" y="4389120"/>
            <a:ext cx="1417320" cy="658368"/>
          </a:xfrm>
          <a:prstGeom prst="roundRect">
            <a:avLst/>
          </a:prstGeom>
          <a:solidFill>
            <a:srgbClr val="591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JetBrains Mono"/>
              </a:rPr>
              <a:t>#591337</a:t>
            </a:r>
          </a:p>
        </p:txBody>
      </p:sp>
      <p:sp>
        <p:nvSpPr>
          <p:cNvPr id="13" name="Rounded Rectangle 12"/>
          <p:cNvSpPr/>
          <p:nvPr/>
        </p:nvSpPr>
        <p:spPr>
          <a:xfrm>
            <a:off x="3072384" y="4389120"/>
            <a:ext cx="1417320" cy="658368"/>
          </a:xfrm>
          <a:prstGeom prst="roundRect">
            <a:avLst/>
          </a:prstGeom>
          <a:solidFill>
            <a:srgbClr val="BAF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30205"/>
                </a:solidFill>
                <a:latin typeface="JetBrains Mono"/>
              </a:rPr>
              <a:t>#BAF837</a:t>
            </a:r>
          </a:p>
        </p:txBody>
      </p:sp>
      <p:sp>
        <p:nvSpPr>
          <p:cNvPr id="14" name="Rounded Rectangle 13"/>
          <p:cNvSpPr/>
          <p:nvPr/>
        </p:nvSpPr>
        <p:spPr>
          <a:xfrm>
            <a:off x="4654296" y="4389120"/>
            <a:ext cx="1417320" cy="658368"/>
          </a:xfrm>
          <a:prstGeom prst="roundRect">
            <a:avLst/>
          </a:prstGeom>
          <a:solidFill>
            <a:srgbClr val="7E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30205"/>
                </a:solidFill>
                <a:latin typeface="JetBrains Mono"/>
              </a:rPr>
              <a:t>#7EC8FF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