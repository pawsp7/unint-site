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023360"/>
            <a:ext cx="68580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 i="0">
                <a:solidFill>
                  <a:srgbClr val="1A1A1A"/>
                </a:solidFill>
                <a:latin typeface="Inter"/>
              </a:rPr>
              <a:t>Unnatural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709160"/>
            <a:ext cx="6858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Club Charter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257800"/>
            <a:ext cx="6858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1A1A1A"/>
                </a:solidFill>
                <a:latin typeface="Inter"/>
              </a:rPr>
              <a:t>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715000"/>
            <a:ext cx="6858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 i="1">
                <a:solidFill>
                  <a:srgbClr val="5A5A5A"/>
                </a:solidFill>
                <a:latin typeface="Inter"/>
              </a:rPr>
              <a:t>Untapped  ·  Integrated  ·  Human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2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630936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t>Mission Statement</a:t>
            </a:r>
          </a:p>
          <a:p>
            <a:pPr>
              <a:spcAft>
                <a:spcPts val="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t>The Basis</a:t>
            </a:r>
          </a:p>
          <a:p>
            <a:pPr>
              <a:spcAft>
                <a:spcPts val="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t>Goals</a:t>
            </a:r>
          </a:p>
          <a:p>
            <a:pPr>
              <a:spcAft>
                <a:spcPts val="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t>Executive Roles &amp; Responsibilities</a:t>
            </a:r>
          </a:p>
          <a:p>
            <a:pPr>
              <a:spcAft>
                <a:spcPts val="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t>Event Concepts</a:t>
            </a:r>
          </a:p>
          <a:p>
            <a:pPr>
              <a:spcAft>
                <a:spcPts val="400"/>
              </a:spcAft>
              <a:defRPr sz="1600" b="0">
                <a:solidFill>
                  <a:srgbClr val="1A1A1A"/>
                </a:solidFill>
                <a:latin typeface="Inter"/>
              </a:defRPr>
            </a:pPr>
            <a:r>
              <a:t>Style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3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291840"/>
            <a:ext cx="6309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Mission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59893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1">
                <a:solidFill>
                  <a:srgbClr val="1A1A1A"/>
                </a:solidFill>
                <a:latin typeface="Inter"/>
              </a:rPr>
              <a:t>“Pursue the untapped potential of AI. Explore integrating AI into our daily and professional workflows. Optimize token usage while still retaining that touch of humanity.”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 i="0">
                <a:solidFill>
                  <a:srgbClr val="5A5A5A"/>
                </a:solidFill>
                <a:latin typeface="Inter"/>
              </a:rPr>
              <a:t>Untapped potential  ·  Daily &amp; professional workflows  ·  Lean tokens, human finish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4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051560"/>
            <a:ext cx="6583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The Basis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1. Pursue the untapped potential of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Most students only meet the default chatbot. The interesting work is off to the side. We go looking for those.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67128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2. Integrate AI into daily and professional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87752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A demo is not a habit. Fold AI into Tuesday, then keep only what actually saves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92424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3. Optimize tokens, keep the 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66744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Wasteful prompts are sloppy thinking. Fewer tokens, then a human finish so it still sounds like a person.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25112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71416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4. A polytechnic is the right place for this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45736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Construction, health, energy, business, media, and ICT each hide different unused potential.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04104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50407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5. Built to exist as a Saitsa 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24727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Open membership, student-led, non-profit, three signing executives, registered through the Saitsa Clubs Portal.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83096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5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051560"/>
            <a:ext cx="6583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1. Pursue Untapped Potential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Look past the default chatbot. Find uses workplaces have not worn out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67128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2. Integrate AI into Daily &amp; Professional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87752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Move from one-off demos to habits: class, practicum, job search, and each SAIT program.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92424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3. Optimize Tokens, Keep the Human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66744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Spend fewer tokens, then edit until the work still sounds like a person.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25112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71416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4. Cross-Program Workflow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45736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Bring different jobs into the same room so unused potential travels.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04104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50407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5. A Community of Practice, Not a Tool Fan 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24727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Share the workflows people actually keep. Critique the ones that flatten a human voice.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483096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6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051560"/>
            <a:ext cx="6583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 i="0">
                <a:solidFill>
                  <a:srgbClr val="1A1A1A"/>
                </a:solidFill>
                <a:latin typeface="Inter"/>
              </a:rPr>
              <a:t>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6. Lower Barriers to Participation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You do not need a CS background, a paid model, or a prompt library to walk 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04288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50591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7. Leadership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1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Run the club lean, documented, and human — under Saitsa’s framework.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83279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9583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8. Experiment Without Waste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03903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Try the weird idea. Kill the prompt that burns tokens for nothing.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62271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08575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9. Integrity, Voice, and Human Accountability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82895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If you could not stand behind the output without the model, it is not finished.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41263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687567"/>
            <a:ext cx="6309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10. Strengthen Unnatural Intelligence’s Presence on Campus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61887"/>
            <a:ext cx="6309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Be known for unused potential, real workflows, and work that still sounds like a person.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620255"/>
            <a:ext cx="6309360" cy="952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7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0"/>
            <a:ext cx="6309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Executive Roles &amp;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6309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Responsibilities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8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Inter"/>
              </a:rPr>
              <a:t>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President — Strategic Lead &amp; Club Coordinator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Core Purpose: Keep the club organized, aligned, and progressing forward.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6309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Responsibilities: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6309360" cy="713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Inter"/>
              </a:defRPr>
            </a:pPr>
            <a:r>
              <a:t>Hold veto power for decisions affecting club direction or budget.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Inter"/>
              </a:defRPr>
            </a:pPr>
            <a:r>
              <a:t>Set semester direction around the three foundations.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Inter"/>
              </a:defRPr>
            </a:pPr>
            <a:r>
              <a:t>Arrange and lead executive meetings; prepare agendas.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Inter"/>
              </a:defRPr>
            </a:pPr>
            <a:r>
              <a:t>Follow up on tasks and track deadlines.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Inter"/>
              </a:defRPr>
            </a:pPr>
            <a:r>
              <a:t>Book rooms and manage logistics.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Inter"/>
              </a:defRPr>
            </a:pPr>
            <a:r>
              <a:t>Monitor club email, Teams, Rubric, and official channels.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Inter"/>
              </a:defRPr>
            </a:pPr>
            <a:r>
              <a:t>Navigate conflict; represent the club with Saitsa.</a:t>
            </a:r>
          </a:p>
          <a:p>
            <a:pPr>
              <a:spcAft>
                <a:spcPts val="400"/>
              </a:spcAft>
              <a:defRPr sz="1200" b="0">
                <a:solidFill>
                  <a:srgbClr val="1A1A1A"/>
                </a:solidFill>
                <a:latin typeface="Inter"/>
              </a:defRPr>
            </a:pPr>
            <a:r>
              <a:t>Ensure the three Saitsa signing authorities remain filled.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9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Inter"/>
              </a:rPr>
              <a:t>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Vice-President Operations — Operations &amp; Visionary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Core Purpose: Aid overall direction and maintain operations in the absence of the president.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6309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Responsibilities: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6309360" cy="694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Serve as secondary decision-maker when the president is unavailable.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Keep activity tied to the three foundations.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Record minutes; organize event plans, budgets, Saitsa forms.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Help onboard new execs.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Monitor channels; navigate conflict; represent the club externally.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10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Inter"/>
              </a:rPr>
              <a:t>Directors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Vice-President Finance — Budgeting &amp; Funding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Core Purpose: Manage club finances responsibly and transparently.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63093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A1A1A"/>
                </a:solidFill>
                <a:latin typeface="Inter"/>
              </a:rPr>
              <a:t>Responsibilities: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630936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Prepare semester forecasts; keep a ledger and receipts.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Manage the Saitsa-issued club bank account.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Budget events; submit quotes and grants.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Apply for start-up reimbursement (up to $500) and term grants.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Spend like we prompt: enough to do the work, nothing extra.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Follow Saitsa and SAIT purchase guidelines.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863840"/>
            <a:ext cx="63093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1">
                <a:solidFill>
                  <a:srgbClr val="5A5A5A"/>
                </a:solidFill>
                <a:latin typeface="Inter"/>
              </a:rPr>
              <a:t>Saitsa requires three signing executives: President, VP Operations, and VP Finance. Only current SAIT students who have paid the Saitsa fee may hold executive positions. The club is non-profit.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11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Inter"/>
              </a:rPr>
              <a:t>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309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Social Media Lead (1–3) — Communication &amp;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Core Purpose: Maintain active, engaging communication across platforms.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630936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Instagram, Discord, Teams, Rubric, LinkedIn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Captions, announcements, recaps, stories — human voice, no unedited AI captions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Publish lean-prompt tips, unused-use finds, and human-finish before/afters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12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Inter"/>
              </a:rPr>
              <a:t>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309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Graphic Designer (1–2) — Visual Identity &amp; Creative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1A1A1A"/>
                </a:solidFill>
                <a:latin typeface="Inter"/>
              </a:rPr>
              <a:t>Core Purpose: Shape the club’s visual identity and produce design assets.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6309360" cy="73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Social posts, tabloid posters with the Saitsa Clubs logo, presentations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AI may sketch; a human always finishes what gets published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Do not use the official SAIT logo on club materials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13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1A1A1A"/>
                </a:solidFill>
                <a:latin typeface="Inter"/>
              </a:rPr>
              <a:t>Events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Events Coordinator (2) — Planning &amp;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6309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Propose ideas with agenda, materials, and which foundation it serves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Coordinate finance, marketing, outreach; submit via Rubric before promoting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Run the event; collect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A1A1A"/>
                </a:solidFill>
                <a:latin typeface="Inter"/>
              </a:rPr>
              <a:t>Outreach &amp; Networking — External Communication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2356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Speakers, partners, Calgary industry — people with unused AI potential in real workflows</a:t>
            </a:r>
          </a:p>
          <a:p>
            <a:pPr>
              <a:spcAft>
                <a:spcPts val="400"/>
              </a:spcAft>
              <a:defRPr sz="1300" b="0">
                <a:solidFill>
                  <a:srgbClr val="1A1A1A"/>
                </a:solidFill>
                <a:latin typeface="Inter"/>
              </a:defRPr>
            </a:pPr>
            <a:r>
              <a:t>Help identify a faculty advisor (encouraged; required if academic)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14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54880"/>
            <a:ext cx="6309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 i="0">
                <a:solidFill>
                  <a:srgbClr val="1A1A1A"/>
                </a:solidFill>
                <a:latin typeface="Inter"/>
              </a:rPr>
              <a:t>Event Concepts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15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6309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Inter"/>
              </a:rPr>
              <a:t>Untapped Potential — find what default chat never gets asked.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“What’s this button for?” nights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Multimodal labs: shop-floor photos, schematics, messy syllabi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Tiny assistants you delete if unused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Failed-experiment 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6309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Inter"/>
              </a:rPr>
              <a:t>Workflow Integration — from demo to a Tuesday you would actually keep.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6309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Bring Your Tuesday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Daily Driver challenge (keep what you still open on day 14)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Workflow swaps across programs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End-of-semester Daily Driver showcase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16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6309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Inter"/>
              </a:rPr>
              <a:t>Token Craft &amp; Human Touch — less spend, more of you in the result.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309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Token Diet: same outcome, fewer tokens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Human Finish Studio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“Don’t send that” clinic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Blind taste tests: human / machine / human-finished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A1A1A"/>
                </a:solidFill>
                <a:latin typeface="Inter"/>
              </a:rPr>
              <a:t>Mixer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6309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Game nights (phones down for a stretch)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Unnatural-thons with a token budget</a:t>
            </a:r>
          </a:p>
          <a:p>
            <a:pPr>
              <a:spcAft>
                <a:spcPts val="400"/>
              </a:spcAft>
              <a:defRPr sz="1400" b="0">
                <a:solidFill>
                  <a:srgbClr val="1A1A1A"/>
                </a:solidFill>
                <a:latin typeface="Inter"/>
              </a:defRPr>
            </a:pPr>
            <a:r>
              <a:t>Clubs Expo tables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7232904" cy="9476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0104120"/>
            <a:ext cx="756208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A7A84"/>
                </a:solidFill>
                <a:latin typeface="Inter"/>
              </a:rPr>
              <a:t>17</a:t>
            </a:r>
          </a:p>
        </p:txBody>
      </p:sp>
      <p:pic>
        <p:nvPicPr>
          <p:cNvPr id="4" name="Picture 3" descr="masc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740" y="10351008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97280"/>
            <a:ext cx="6309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A1A1A"/>
                </a:solidFill>
                <a:latin typeface="Inter"/>
              </a:rPr>
              <a:t>Unnatural Intelligence Style Guide</a:t>
            </a:r>
          </a:p>
        </p:txBody>
      </p:sp>
      <p:pic>
        <p:nvPicPr>
          <p:cNvPr id="6" name="Picture 5" descr="word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645920"/>
            <a:ext cx="2560320" cy="7980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200400"/>
            <a:ext cx="6309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1">
                <a:solidFill>
                  <a:srgbClr val="1A1A1A"/>
                </a:solidFill>
                <a:latin typeface="Inter"/>
              </a:rPr>
              <a:t>Google-friendly fonts: Inter  |  JetBrains Mono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749039"/>
            <a:ext cx="1691640" cy="777240"/>
          </a:xfrm>
          <a:prstGeom prst="roundRect">
            <a:avLst/>
          </a:prstGeom>
          <a:solidFill>
            <a:srgbClr val="1A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JetBrains Mono"/>
              </a:rPr>
              <a:t>#1A7A84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3749039"/>
            <a:ext cx="1691640" cy="777240"/>
          </a:xfrm>
          <a:prstGeom prst="roundRect">
            <a:avLst/>
          </a:prstGeom>
          <a:solidFill>
            <a:srgbClr val="8E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JetBrains Mono"/>
              </a:rPr>
              <a:t>#8EE3D8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7176" y="3749039"/>
            <a:ext cx="1691640" cy="777240"/>
          </a:xfrm>
          <a:prstGeom prst="round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JetBrains Mono"/>
              </a:rPr>
              <a:t>#5A5A5A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937759"/>
            <a:ext cx="1691640" cy="777240"/>
          </a:xfrm>
          <a:prstGeom prst="roundRect">
            <a:avLst/>
          </a:prstGeom>
          <a:solidFill>
            <a:srgbClr val="7B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JetBrains Mono"/>
              </a:rPr>
              <a:t>#7B61FF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4937759"/>
            <a:ext cx="1691640" cy="777240"/>
          </a:xfrm>
          <a:prstGeom prst="roundRect">
            <a:avLst/>
          </a:prstGeom>
          <a:solidFill>
            <a:srgbClr val="C4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JetBrains Mono"/>
              </a:rPr>
              <a:t>#C4B8FF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37176" y="4937759"/>
            <a:ext cx="1691640" cy="777240"/>
          </a:xfrm>
          <a:prstGeom prst="roundRect">
            <a:avLst/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JetBrains Mono"/>
              </a:rPr>
              <a:t>#EAEAEA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6126479"/>
            <a:ext cx="1691640" cy="777240"/>
          </a:xfrm>
          <a:prstGeom prst="round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JetBrains Mono"/>
              </a:rPr>
              <a:t>#FF6B4A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44368" y="6126479"/>
            <a:ext cx="1691640" cy="777240"/>
          </a:xfrm>
          <a:prstGeom prst="round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1A1A1A"/>
                </a:solidFill>
                <a:latin typeface="JetBrains Mono"/>
              </a:rPr>
              <a:t>#F4C430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