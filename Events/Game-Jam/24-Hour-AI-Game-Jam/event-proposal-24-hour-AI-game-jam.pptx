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7269480" cy="6923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0222992"/>
            <a:ext cx="7562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91337"/>
                </a:solidFill>
                <a:latin typeface="JetBrains Mono"/>
              </a:rPr>
              <a:t>01</a:t>
            </a:r>
          </a:p>
        </p:txBody>
      </p:sp>
      <p:pic>
        <p:nvPicPr>
          <p:cNvPr id="5" name="Picture 4" descr="jellyfish-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452" y="10314432"/>
            <a:ext cx="329184" cy="407839"/>
          </a:xfrm>
          <a:prstGeom prst="rect">
            <a:avLst/>
          </a:prstGeom>
        </p:spPr>
      </p:pic>
      <p:pic>
        <p:nvPicPr>
          <p:cNvPr id="6" name="Picture 5" descr="jellyfi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1234440"/>
            <a:ext cx="2016557" cy="2194560"/>
          </a:xfrm>
          <a:prstGeom prst="rect">
            <a:avLst/>
          </a:prstGeom>
        </p:spPr>
      </p:pic>
      <p:pic>
        <p:nvPicPr>
          <p:cNvPr id="7" name="Picture 6" descr="word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3520440"/>
            <a:ext cx="4114800" cy="18214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4983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30205"/>
                </a:solidFill>
                <a:latin typeface="Inter"/>
              </a:rPr>
              <a:t>Event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0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91337"/>
                </a:solidFill>
                <a:latin typeface="JetBrains Mono"/>
              </a:rPr>
              <a:t>24-Hour AI Game Jam  · 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83387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A5A5A"/>
                </a:solidFill>
                <a:latin typeface="Inter"/>
              </a:rPr>
              <a:t>Unnatural Intelligence  ×  Game Development Club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14476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  <a:latin typeface="Inter"/>
              </a:rPr>
              <a:t>Godot 4  ·  paid Ziva Basic  ·  24 hours  ·  doors Sat 9:00</a:t>
            </a:r>
          </a:p>
        </p:txBody>
      </p:sp>
      <p:pic>
        <p:nvPicPr>
          <p:cNvPr id="12" name="Picture 11" descr="tag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4560" y="6537960"/>
            <a:ext cx="3200400" cy="1230923"/>
          </a:xfrm>
          <a:prstGeom prst="rect">
            <a:avLst/>
          </a:prstGeom>
        </p:spPr>
      </p:pic>
      <p:pic>
        <p:nvPicPr>
          <p:cNvPr id="13" name="Picture 12" descr="badge-worksh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2988" y="7360920"/>
            <a:ext cx="853440" cy="256032"/>
          </a:xfrm>
          <a:prstGeom prst="rect">
            <a:avLst/>
          </a:prstGeom>
        </p:spPr>
      </p:pic>
      <p:pic>
        <p:nvPicPr>
          <p:cNvPr id="14" name="Picture 13" descr="badge-live-la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57868" y="7360920"/>
            <a:ext cx="853440" cy="256032"/>
          </a:xfrm>
          <a:prstGeom prst="rect">
            <a:avLst/>
          </a:prstGeom>
        </p:spPr>
      </p:pic>
      <p:pic>
        <p:nvPicPr>
          <p:cNvPr id="15" name="Picture 14" descr="badge-halt-rest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2748" y="7360920"/>
            <a:ext cx="1090803" cy="256032"/>
          </a:xfrm>
          <a:prstGeom prst="rect">
            <a:avLst/>
          </a:prstGeom>
        </p:spPr>
      </p:pic>
      <p:pic>
        <p:nvPicPr>
          <p:cNvPr id="16" name="Picture 15" descr="badge-clubs-exp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4991" y="7360920"/>
            <a:ext cx="864108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5760" y="777240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5A5A"/>
                </a:solidFill>
                <a:latin typeface="Inter"/>
              </a:rPr>
              <a:t>Saitsa Clubs Portal  ·  portal.hellorubric.com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9619488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205"/>
                </a:solidFill>
                <a:latin typeface="Inter"/>
              </a:rPr>
              <a:t>Primary Event Organizer — VP, Unnatural Intelligence (Pierre Tchio)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9784080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5A5A"/>
                </a:solidFill>
                <a:latin typeface="Inter"/>
              </a:rPr>
              <a:t>Signature: ____________________     Date: 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7269480" cy="6923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0222992"/>
            <a:ext cx="7562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91337"/>
                </a:solidFill>
                <a:latin typeface="JetBrains Mono"/>
              </a:rPr>
              <a:t>02</a:t>
            </a:r>
          </a:p>
        </p:txBody>
      </p:sp>
      <p:pic>
        <p:nvPicPr>
          <p:cNvPr id="5" name="Picture 4" descr="jellyfish-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452" y="10314432"/>
            <a:ext cx="329184" cy="407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24128"/>
            <a:ext cx="6556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30205"/>
                </a:solidFill>
                <a:latin typeface="Inter"/>
              </a:rPr>
              <a:t>24-Hour AI Game Jam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6556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205"/>
                </a:solidFill>
                <a:latin typeface="Inter"/>
              </a:rPr>
              <a:t>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00784"/>
            <a:ext cx="655624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792224"/>
            <a:ext cx="6300216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0205"/>
                </a:solidFill>
                <a:latin typeface="Inter"/>
              </a:rPr>
              <a:t>Overnight Saturday–Sunday jam co-hosted with the Game Development Club. Doors Saturday 9:00. Theme, teams, Godot 4, and Ziva Basic before 10:30. Official build is 24 hours (Sat 10:30 – Sun 10:30). Teams of 2–5 ship a playable Godot prototype. Food is five drops from the attached Curated Catering campus menu only — no Event Palette items. Not a sleepover: leave-and-return allowed; a named exec is on site all night. No alcohol.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64992"/>
            <a:ext cx="6556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205"/>
                </a:solidFill>
                <a:latin typeface="Inter"/>
              </a:rPr>
              <a:t>Time and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84448"/>
            <a:ext cx="655624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3675888"/>
            <a:ext cx="6300216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0205"/>
                </a:solidFill>
                <a:latin typeface="Inter"/>
              </a:rPr>
              <a:t>Saturday 14 November – Sunday 15 November 2026. Doors Sat 9:00 AM. Official jam Sat 10:30 AM – Sun 10:30 AM. Judging then teardown to ~1:00 PM Sunday. Pending SECC, Campus Security, and the 5 October grant intake.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36008"/>
            <a:ext cx="6556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205"/>
                </a:solidFill>
                <a:latin typeface="Inter"/>
              </a:rPr>
              <a:t>Proposed 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55464"/>
            <a:ext cx="6556248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4946904"/>
            <a:ext cx="630021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0205"/>
                </a:solidFill>
                <a:latin typeface="Inter"/>
              </a:rPr>
              <a:t>Indoor computer-friendly classroom or lab with projector, power, and Wi-Fi (Stan Grad / Heritage Hall). Weekend and after-hours booking by SECC only. Overflow if RSVPs exceed ~40.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15584"/>
            <a:ext cx="6556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205"/>
                </a:solidFill>
                <a:latin typeface="Inter"/>
              </a:rPr>
              <a:t>Expected Attendance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6035040"/>
            <a:ext cx="6556248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6126480"/>
            <a:ext cx="63002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0205"/>
                </a:solidFill>
                <a:latin typeface="Inter"/>
              </a:rPr>
              <a:t>30 recommended (fully fed, Philippines dinner) / 50 ceiling (pizza dinner). Engine: Godot 4 (free). AI: Ziva Basic at CAD $28/attendee. Cursor is BYO only. PEO: VP, Unnatural Intelligence (Pierre Tchio). Game Dev Club is logistics lead and overnight deputy. Equal budget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9619488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205"/>
                </a:solidFill>
                <a:latin typeface="Inter"/>
              </a:rPr>
              <a:t>Primary Event Organizer — [NAME AND EXECUTIVE ROLE]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9784080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5A5A"/>
                </a:solidFill>
                <a:latin typeface="Inter"/>
              </a:rPr>
              <a:t>Signature: ____________________     Date: 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7269480" cy="6923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0222992"/>
            <a:ext cx="7562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91337"/>
                </a:solidFill>
                <a:latin typeface="JetBrains Mono"/>
              </a:rPr>
              <a:t>03</a:t>
            </a:r>
          </a:p>
        </p:txBody>
      </p:sp>
      <p:pic>
        <p:nvPicPr>
          <p:cNvPr id="5" name="Picture 4" descr="jellyfish-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452" y="10314432"/>
            <a:ext cx="329184" cy="407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24128"/>
            <a:ext cx="6556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30205"/>
                </a:solidFill>
                <a:latin typeface="Inter"/>
              </a:rPr>
              <a:t>Agenda — Saturday 9:00 to Sunday afternoon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556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  <a:latin typeface="Inter"/>
              </a:rPr>
              <a:t>24 hours of game dev is fixed. Official clock Sat 10:30 – Sun 10:30. Quiet hours 01:00–06:00.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74519"/>
          <a:ext cx="6556247" cy="5998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749"/>
                <a:gridCol w="4720498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9F9FA"/>
                          </a:solidFill>
                          <a:latin typeface="Inter"/>
                        </a:rPr>
                        <a:t>Clock</a:t>
                      </a:r>
                    </a:p>
                  </a:txBody>
                  <a:tcPr anchor="ctr">
                    <a:solidFill>
                      <a:srgbClr val="030205"/>
                    </a:solidFill>
                    <a:lnL w="6350" cap="flat" cmpd="sng" algn="ctr">
                      <a:solidFill>
                        <a:srgbClr val="030205"/>
                      </a:solidFill>
                      <a:prstDash val="solid"/>
                    </a:lnL>
                    <a:lnR w="6350" cap="flat" cmpd="sng" algn="ctr">
                      <a:solidFill>
                        <a:srgbClr val="030205"/>
                      </a:solidFill>
                      <a:prstDash val="solid"/>
                    </a:lnR>
                    <a:lnT w="6350" cap="flat" cmpd="sng" algn="ctr">
                      <a:solidFill>
                        <a:srgbClr val="030205"/>
                      </a:solidFill>
                      <a:prstDash val="solid"/>
                    </a:lnT>
                    <a:lnB w="6350" cap="flat" cmpd="sng" algn="ctr">
                      <a:solidFill>
                        <a:srgbClr val="03020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9F9FA"/>
                          </a:solidFill>
                          <a:latin typeface="Inter"/>
                        </a:rPr>
                        <a:t>Segment</a:t>
                      </a:r>
                    </a:p>
                  </a:txBody>
                  <a:tcPr anchor="ctr">
                    <a:solidFill>
                      <a:srgbClr val="030205"/>
                    </a:solidFill>
                    <a:lnL w="6350" cap="flat" cmpd="sng" algn="ctr">
                      <a:solidFill>
                        <a:srgbClr val="030205"/>
                      </a:solidFill>
                      <a:prstDash val="solid"/>
                    </a:lnL>
                    <a:lnR w="6350" cap="flat" cmpd="sng" algn="ctr">
                      <a:solidFill>
                        <a:srgbClr val="030205"/>
                      </a:solidFill>
                      <a:prstDash val="solid"/>
                    </a:lnR>
                    <a:lnT w="6350" cap="flat" cmpd="sng" algn="ctr">
                      <a:solidFill>
                        <a:srgbClr val="030205"/>
                      </a:solidFill>
                      <a:prstDash val="solid"/>
                    </a:lnT>
                    <a:lnB w="6350" cap="flat" cmpd="sng" algn="ctr">
                      <a:solidFill>
                        <a:srgbClr val="030205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Sat 09:00–09:15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Doors, attendance, power map, both-club sign-ups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Sat 09:15–10:00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Welcome, rules, secret theme, teams (2–5)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Sat 09:30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Continental Lite kickoff ($10) — coffee included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Sat 10:00–10:30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Setup lab: Godot 4 + Ziva Basic redeem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30205"/>
                          </a:solidFill>
                          <a:latin typeface="Inter"/>
                        </a:rPr>
                        <a:t>Sat 10:30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Official start. 24-hour clock begins.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Sat 12:30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Lunch boxes drop ($16). Eat at desks.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Sat 18:30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Philippines dinner ($29) · pizza ($6) if 50-person ceiling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Sun 00:00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Energy bars &amp; bites ($6) midnight drop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Sun 01:00–06:00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Quiet hours. Leave-and-return. Two-person exec minimum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Sun 08:00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Signature Breakfast Lite ($12)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30205"/>
                          </a:solidFill>
                          <a:latin typeface="Inter"/>
                        </a:rPr>
                        <a:t>Sun 10:30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Submissions freeze. Godot export + 60-second playable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Sun 10:30–13:00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Judging, results, send-home, exec teardown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9619488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205"/>
                </a:solidFill>
                <a:latin typeface="Inter"/>
              </a:rPr>
              <a:t>Primary Event Organizer — [NAME AND EXECUTIVE ROLE]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784080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5A5A"/>
                </a:solidFill>
                <a:latin typeface="Inter"/>
              </a:rPr>
              <a:t>Signature: ____________________     Date: 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7269480" cy="6923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0222992"/>
            <a:ext cx="7562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91337"/>
                </a:solidFill>
                <a:latin typeface="JetBrains Mono"/>
              </a:rPr>
              <a:t>04</a:t>
            </a:r>
          </a:p>
        </p:txBody>
      </p:sp>
      <p:pic>
        <p:nvPicPr>
          <p:cNvPr id="5" name="Picture 4" descr="jellyfish-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452" y="10314432"/>
            <a:ext cx="329184" cy="407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24128"/>
            <a:ext cx="6556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30205"/>
                </a:solidFill>
                <a:latin typeface="Inter"/>
              </a:rPr>
              <a:t>Objectives &amp; labour split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6556248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0936" y="1645920"/>
            <a:ext cx="329184" cy="329184"/>
          </a:xfrm>
          <a:prstGeom prst="ellipse">
            <a:avLst/>
          </a:prstGeom>
          <a:solidFill>
            <a:srgbClr val="BAF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682496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30205"/>
                </a:solidFill>
                <a:latin typeface="JetBrains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27632"/>
            <a:ext cx="58613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0205"/>
                </a:solidFill>
                <a:latin typeface="Inter"/>
              </a:rPr>
              <a:t>Ship a playable Godot game in 24 hours — every team leaves with a running scene.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31136"/>
            <a:ext cx="6556248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395728"/>
            <a:ext cx="329184" cy="329184"/>
          </a:xfrm>
          <a:prstGeom prst="ellipse">
            <a:avLst/>
          </a:prstGeom>
          <a:solidFill>
            <a:srgbClr val="F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2432304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30205"/>
                </a:solidFill>
                <a:latin typeface="JetBrain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377440"/>
            <a:ext cx="58613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0205"/>
                </a:solidFill>
                <a:latin typeface="Inter"/>
              </a:rPr>
              <a:t>Use paid Ziva Basic as a Godot teammate, not as the designer — human finish.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80944"/>
            <a:ext cx="6556248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936" y="3145536"/>
            <a:ext cx="329184" cy="329184"/>
          </a:xfrm>
          <a:prstGeom prst="ellipse">
            <a:avLst/>
          </a:prstGeom>
          <a:solidFill>
            <a:srgbClr val="BAF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182112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30205"/>
                </a:solidFill>
                <a:latin typeface="JetBrai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127248"/>
            <a:ext cx="58613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0205"/>
                </a:solidFill>
                <a:latin typeface="Inter"/>
              </a:rPr>
              <a:t>Cross-club recruitment — both clubs sign people up; beginners pair with shippers.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30752"/>
            <a:ext cx="6556248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" y="3895344"/>
            <a:ext cx="329184" cy="329184"/>
          </a:xfrm>
          <a:prstGeom prst="ellipse">
            <a:avLst/>
          </a:prstGeom>
          <a:solidFill>
            <a:srgbClr val="F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3931920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30205"/>
                </a:solidFill>
                <a:latin typeface="JetBrai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3877056"/>
            <a:ext cx="58613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0205"/>
                </a:solidFill>
                <a:latin typeface="Inter"/>
              </a:rPr>
              <a:t>Foundations: untapped (AI in Godot overnight), workflow (a real jam), human finish.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17136"/>
            <a:ext cx="6556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30205"/>
                </a:solidFill>
                <a:latin typeface="Inter"/>
              </a:rPr>
              <a:t>Who does what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4828032"/>
          <a:ext cx="6556248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8124"/>
                <a:gridCol w="3278124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9F9FA"/>
                          </a:solidFill>
                          <a:latin typeface="Inter"/>
                        </a:rPr>
                        <a:t>Unnatural Intelligence</a:t>
                      </a:r>
                    </a:p>
                  </a:txBody>
                  <a:tcPr anchor="ctr">
                    <a:solidFill>
                      <a:srgbClr val="030205"/>
                    </a:solidFill>
                    <a:lnL w="6350" cap="flat" cmpd="sng" algn="ctr">
                      <a:solidFill>
                        <a:srgbClr val="030205"/>
                      </a:solidFill>
                      <a:prstDash val="solid"/>
                    </a:lnL>
                    <a:lnR w="6350" cap="flat" cmpd="sng" algn="ctr">
                      <a:solidFill>
                        <a:srgbClr val="030205"/>
                      </a:solidFill>
                      <a:prstDash val="solid"/>
                    </a:lnR>
                    <a:lnT w="6350" cap="flat" cmpd="sng" algn="ctr">
                      <a:solidFill>
                        <a:srgbClr val="030205"/>
                      </a:solidFill>
                      <a:prstDash val="solid"/>
                    </a:lnT>
                    <a:lnB w="6350" cap="flat" cmpd="sng" algn="ctr">
                      <a:solidFill>
                        <a:srgbClr val="03020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9F9FA"/>
                          </a:solidFill>
                          <a:latin typeface="Inter"/>
                        </a:rPr>
                        <a:t>Game Development Club</a:t>
                      </a:r>
                    </a:p>
                  </a:txBody>
                  <a:tcPr anchor="ctr">
                    <a:solidFill>
                      <a:srgbClr val="030205"/>
                    </a:solidFill>
                    <a:lnL w="6350" cap="flat" cmpd="sng" algn="ctr">
                      <a:solidFill>
                        <a:srgbClr val="030205"/>
                      </a:solidFill>
                      <a:prstDash val="solid"/>
                    </a:lnL>
                    <a:lnR w="6350" cap="flat" cmpd="sng" algn="ctr">
                      <a:solidFill>
                        <a:srgbClr val="030205"/>
                      </a:solidFill>
                      <a:prstDash val="solid"/>
                    </a:lnR>
                    <a:lnT w="6350" cap="flat" cmpd="sng" algn="ctr">
                      <a:solidFill>
                        <a:srgbClr val="030205"/>
                      </a:solidFill>
                      <a:prstDash val="solid"/>
                    </a:lnT>
                    <a:lnB w="6350" cap="flat" cmpd="sng" algn="ctr">
                      <a:solidFill>
                        <a:srgbClr val="030205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Files proposal + grant; 50% of cost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Coordinates logistics via SECC; 50% of cost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Ziva Basic redeem + setup lab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Godot install, template, export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First draft of judging rubric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Reviews rubric; co-judges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Named exec on overnight roster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Named exec on overnight roster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30205"/>
                          </a:solidFill>
                          <a:latin typeface="Inter"/>
                        </a:rPr>
                        <a:t>Theme together (secret until Sat 9:15)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Theme together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02920" y="9619488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205"/>
                </a:solidFill>
                <a:latin typeface="Inter"/>
              </a:rPr>
              <a:t>Primary Event Organizer — [NAME AND EXECUTIVE ROLE]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9784080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5A5A"/>
                </a:solidFill>
                <a:latin typeface="Inter"/>
              </a:rPr>
              <a:t>Signature: ____________________     Date: ______________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7269480" cy="6923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0222992"/>
            <a:ext cx="7562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91337"/>
                </a:solidFill>
                <a:latin typeface="JetBrains Mono"/>
              </a:rPr>
              <a:t>05</a:t>
            </a:r>
          </a:p>
        </p:txBody>
      </p:sp>
      <p:pic>
        <p:nvPicPr>
          <p:cNvPr id="5" name="Picture 4" descr="jellyfish-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452" y="10314432"/>
            <a:ext cx="329184" cy="407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24128"/>
            <a:ext cx="6556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30205"/>
                </a:solidFill>
                <a:latin typeface="Inter"/>
              </a:rPr>
              <a:t>Campus menu only — attached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65562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Inter"/>
              </a:rPr>
              <a:t>Food quotes are the attached Curated Catering cards, not the Hotel Arts Event Palette. Order via SECC. SAITevents@hotelarts.ca · 403-210-5774. Fees card: +18% service + 5% GST (× 1.239). 20% / 50% deposits after grant approval. Additional staff $30/hr not budgeted. No statutory-holiday surcharge on 14–15 Nov 2026.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121408"/>
          <a:ext cx="6556246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374"/>
                <a:gridCol w="917874"/>
                <a:gridCol w="1048999"/>
                <a:gridCol w="2097999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9F9FA"/>
                          </a:solidFill>
                          <a:latin typeface="Inter"/>
                        </a:rPr>
                        <a:t>Menu card</a:t>
                      </a:r>
                    </a:p>
                  </a:txBody>
                  <a:tcPr anchor="ctr">
                    <a:solidFill>
                      <a:srgbClr val="030205"/>
                    </a:solidFill>
                    <a:lnL w="6350" cap="flat" cmpd="sng" algn="ctr">
                      <a:solidFill>
                        <a:srgbClr val="030205"/>
                      </a:solidFill>
                      <a:prstDash val="solid"/>
                    </a:lnL>
                    <a:lnR w="6350" cap="flat" cmpd="sng" algn="ctr">
                      <a:solidFill>
                        <a:srgbClr val="030205"/>
                      </a:solidFill>
                      <a:prstDash val="solid"/>
                    </a:lnR>
                    <a:lnT w="6350" cap="flat" cmpd="sng" algn="ctr">
                      <a:solidFill>
                        <a:srgbClr val="030205"/>
                      </a:solidFill>
                      <a:prstDash val="solid"/>
                    </a:lnT>
                    <a:lnB w="6350" cap="flat" cmpd="sng" algn="ctr">
                      <a:solidFill>
                        <a:srgbClr val="03020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9F9FA"/>
                          </a:solidFill>
                          <a:latin typeface="Inter"/>
                        </a:rPr>
                        <a:t>Base</a:t>
                      </a:r>
                    </a:p>
                  </a:txBody>
                  <a:tcPr anchor="ctr">
                    <a:solidFill>
                      <a:srgbClr val="030205"/>
                    </a:solidFill>
                    <a:lnL w="6350" cap="flat" cmpd="sng" algn="ctr">
                      <a:solidFill>
                        <a:srgbClr val="030205"/>
                      </a:solidFill>
                      <a:prstDash val="solid"/>
                    </a:lnL>
                    <a:lnR w="6350" cap="flat" cmpd="sng" algn="ctr">
                      <a:solidFill>
                        <a:srgbClr val="030205"/>
                      </a:solidFill>
                      <a:prstDash val="solid"/>
                    </a:lnR>
                    <a:lnT w="6350" cap="flat" cmpd="sng" algn="ctr">
                      <a:solidFill>
                        <a:srgbClr val="030205"/>
                      </a:solidFill>
                      <a:prstDash val="solid"/>
                    </a:lnT>
                    <a:lnB w="6350" cap="flat" cmpd="sng" algn="ctr">
                      <a:solidFill>
                        <a:srgbClr val="03020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9F9FA"/>
                          </a:solidFill>
                          <a:latin typeface="Inter"/>
                        </a:rPr>
                        <a:t>Loaded</a:t>
                      </a:r>
                    </a:p>
                  </a:txBody>
                  <a:tcPr anchor="ctr">
                    <a:solidFill>
                      <a:srgbClr val="030205"/>
                    </a:solidFill>
                    <a:lnL w="6350" cap="flat" cmpd="sng" algn="ctr">
                      <a:solidFill>
                        <a:srgbClr val="030205"/>
                      </a:solidFill>
                      <a:prstDash val="solid"/>
                    </a:lnL>
                    <a:lnR w="6350" cap="flat" cmpd="sng" algn="ctr">
                      <a:solidFill>
                        <a:srgbClr val="030205"/>
                      </a:solidFill>
                      <a:prstDash val="solid"/>
                    </a:lnR>
                    <a:lnT w="6350" cap="flat" cmpd="sng" algn="ctr">
                      <a:solidFill>
                        <a:srgbClr val="030205"/>
                      </a:solidFill>
                      <a:prstDash val="solid"/>
                    </a:lnT>
                    <a:lnB w="6350" cap="flat" cmpd="sng" algn="ctr">
                      <a:solidFill>
                        <a:srgbClr val="03020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9F9FA"/>
                          </a:solidFill>
                          <a:latin typeface="Inter"/>
                        </a:rPr>
                        <a:t>This jam</a:t>
                      </a:r>
                    </a:p>
                  </a:txBody>
                  <a:tcPr anchor="ctr">
                    <a:solidFill>
                      <a:srgbClr val="030205"/>
                    </a:solidFill>
                    <a:lnL w="6350" cap="flat" cmpd="sng" algn="ctr">
                      <a:solidFill>
                        <a:srgbClr val="030205"/>
                      </a:solidFill>
                      <a:prstDash val="solid"/>
                    </a:lnL>
                    <a:lnR w="6350" cap="flat" cmpd="sng" algn="ctr">
                      <a:solidFill>
                        <a:srgbClr val="030205"/>
                      </a:solidFill>
                      <a:prstDash val="solid"/>
                    </a:lnR>
                    <a:lnT w="6350" cap="flat" cmpd="sng" algn="ctr">
                      <a:solidFill>
                        <a:srgbClr val="030205"/>
                      </a:solidFill>
                      <a:prstDash val="solid"/>
                    </a:lnT>
                    <a:lnB w="6350" cap="flat" cmpd="sng" algn="ctr">
                      <a:solidFill>
                        <a:srgbClr val="030205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Continental Lite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$10.00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$12.39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Sat 9:30 kickoff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30205"/>
                          </a:solidFill>
                          <a:latin typeface="Inter"/>
                        </a:rPr>
                        <a:t>Lunch boxes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$16.00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$19.82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Sat 12:30 lunch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30205"/>
                          </a:solidFill>
                          <a:latin typeface="Inter"/>
                        </a:rPr>
                        <a:t>Taste of the Philippines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$29.00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$35.93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Sat dinner (30 rec.)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Taste of Morocco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$30.00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$37.17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Dinner swap (~+$37 / 30)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Pizza, 2 slices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$6.00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$7.43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Sat dinner (50 ceiling)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Energy bars &amp; bites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$6.00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$7.43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Sun 00:00 midnight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Signature Breakfast Lite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$12.00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$14.87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Sun 8:00 breakfast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Sides &amp; add-ons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$1–$6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Not used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321808"/>
            <a:ext cx="6556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0205"/>
                </a:solidFill>
                <a:latin typeface="Inter"/>
              </a:rPr>
              <a:t>Paid Ziva Basic — Cursor is not a grant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577840"/>
            <a:ext cx="65562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Inter"/>
              </a:rPr>
              <a:t>Hobby ($3 usage) will not last 24 hours. Basic is $20 USD/mo = CAD $28.00 (BoC USD/CAD 1.4002 on 18 Sep 2026) with $20 weekly / $60 monthly usage. 30 × $28 = $840. 50 × $28 = $1,400. Cancel after the jam. Stay under the weekly cap with Ziva’s free model plus any attendee’s own Claude Code / Codex. Cursor Pro is the same $20 USD — do not buy 30–50 seats.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6473952"/>
          <a:ext cx="6556247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749"/>
                <a:gridCol w="2097999"/>
                <a:gridCol w="2622499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9F9FA"/>
                          </a:solidFill>
                          <a:latin typeface="Inter"/>
                        </a:rPr>
                        <a:t>Headcount</a:t>
                      </a:r>
                    </a:p>
                  </a:txBody>
                  <a:tcPr anchor="ctr">
                    <a:solidFill>
                      <a:srgbClr val="030205"/>
                    </a:solidFill>
                    <a:lnL w="6350" cap="flat" cmpd="sng" algn="ctr">
                      <a:solidFill>
                        <a:srgbClr val="030205"/>
                      </a:solidFill>
                      <a:prstDash val="solid"/>
                    </a:lnL>
                    <a:lnR w="6350" cap="flat" cmpd="sng" algn="ctr">
                      <a:solidFill>
                        <a:srgbClr val="030205"/>
                      </a:solidFill>
                      <a:prstDash val="solid"/>
                    </a:lnR>
                    <a:lnT w="6350" cap="flat" cmpd="sng" algn="ctr">
                      <a:solidFill>
                        <a:srgbClr val="030205"/>
                      </a:solidFill>
                      <a:prstDash val="solid"/>
                    </a:lnT>
                    <a:lnB w="6350" cap="flat" cmpd="sng" algn="ctr">
                      <a:solidFill>
                        <a:srgbClr val="03020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9F9FA"/>
                          </a:solidFill>
                          <a:latin typeface="Inter"/>
                        </a:rPr>
                        <a:t>Ziva Basic @ $28</a:t>
                      </a:r>
                    </a:p>
                  </a:txBody>
                  <a:tcPr anchor="ctr">
                    <a:solidFill>
                      <a:srgbClr val="030205"/>
                    </a:solidFill>
                    <a:lnL w="6350" cap="flat" cmpd="sng" algn="ctr">
                      <a:solidFill>
                        <a:srgbClr val="030205"/>
                      </a:solidFill>
                      <a:prstDash val="solid"/>
                    </a:lnL>
                    <a:lnR w="6350" cap="flat" cmpd="sng" algn="ctr">
                      <a:solidFill>
                        <a:srgbClr val="030205"/>
                      </a:solidFill>
                      <a:prstDash val="solid"/>
                    </a:lnR>
                    <a:lnT w="6350" cap="flat" cmpd="sng" algn="ctr">
                      <a:solidFill>
                        <a:srgbClr val="030205"/>
                      </a:solidFill>
                      <a:prstDash val="solid"/>
                    </a:lnT>
                    <a:lnB w="6350" cap="flat" cmpd="sng" algn="ctr">
                      <a:solidFill>
                        <a:srgbClr val="03020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9F9FA"/>
                          </a:solidFill>
                          <a:latin typeface="Inter"/>
                        </a:rPr>
                        <a:t>Five food drops loaded</a:t>
                      </a:r>
                    </a:p>
                  </a:txBody>
                  <a:tcPr anchor="ctr">
                    <a:solidFill>
                      <a:srgbClr val="030205"/>
                    </a:solidFill>
                    <a:lnL w="6350" cap="flat" cmpd="sng" algn="ctr">
                      <a:solidFill>
                        <a:srgbClr val="030205"/>
                      </a:solidFill>
                      <a:prstDash val="solid"/>
                    </a:lnL>
                    <a:lnR w="6350" cap="flat" cmpd="sng" algn="ctr">
                      <a:solidFill>
                        <a:srgbClr val="030205"/>
                      </a:solidFill>
                      <a:prstDash val="solid"/>
                    </a:lnR>
                    <a:lnT w="6350" cap="flat" cmpd="sng" algn="ctr">
                      <a:solidFill>
                        <a:srgbClr val="030205"/>
                      </a:solidFill>
                      <a:prstDash val="solid"/>
                    </a:lnT>
                    <a:lnB w="6350" cap="flat" cmpd="sng" algn="ctr">
                      <a:solidFill>
                        <a:srgbClr val="030205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30205"/>
                          </a:solidFill>
                          <a:latin typeface="Inter"/>
                        </a:rPr>
                        <a:t>30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$840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$2,714 (Philippines dinner)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$1,400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30205"/>
                          </a:solidFill>
                          <a:latin typeface="Inter"/>
                        </a:rPr>
                        <a:t>$3,098 (pizza dinner)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9619488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205"/>
                </a:solidFill>
                <a:latin typeface="Inter"/>
              </a:rPr>
              <a:t>Primary Event Organizer — [NAME AND EXECUTIVE ROLE]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9784080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5A5A"/>
                </a:solidFill>
                <a:latin typeface="Inter"/>
              </a:rPr>
              <a:t>Signature: ____________________     Date: ______________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7269480" cy="6923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0222992"/>
            <a:ext cx="7562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91337"/>
                </a:solidFill>
                <a:latin typeface="JetBrains Mono"/>
              </a:rPr>
              <a:t>06</a:t>
            </a:r>
          </a:p>
        </p:txBody>
      </p:sp>
      <p:pic>
        <p:nvPicPr>
          <p:cNvPr id="5" name="Picture 4" descr="jellyfish-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452" y="10314432"/>
            <a:ext cx="329184" cy="407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24128"/>
            <a:ext cx="6556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30205"/>
                </a:solidFill>
                <a:latin typeface="Inter"/>
              </a:rPr>
              <a:t>Budget A — $4,100 for 30 people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5562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  <a:latin typeface="Inter"/>
              </a:rPr>
              <a:t>Recommended. Five campus-menu drops including Philippines dinner, Ziva Basic for 30, overnight security placeholder. Split $2,050 / $2,050.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38528"/>
          <a:ext cx="6556247" cy="5998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874"/>
                <a:gridCol w="3278124"/>
                <a:gridCol w="1311249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9F9FA"/>
                          </a:solidFill>
                          <a:latin typeface="Inter"/>
                        </a:rPr>
                        <a:t>Item</a:t>
                      </a:r>
                    </a:p>
                  </a:txBody>
                  <a:tcPr anchor="ctr">
                    <a:solidFill>
                      <a:srgbClr val="030205"/>
                    </a:solidFill>
                    <a:lnL w="6350" cap="flat" cmpd="sng" algn="ctr">
                      <a:solidFill>
                        <a:srgbClr val="030205"/>
                      </a:solidFill>
                      <a:prstDash val="solid"/>
                    </a:lnL>
                    <a:lnR w="6350" cap="flat" cmpd="sng" algn="ctr">
                      <a:solidFill>
                        <a:srgbClr val="030205"/>
                      </a:solidFill>
                      <a:prstDash val="solid"/>
                    </a:lnR>
                    <a:lnT w="6350" cap="flat" cmpd="sng" algn="ctr">
                      <a:solidFill>
                        <a:srgbClr val="030205"/>
                      </a:solidFill>
                      <a:prstDash val="solid"/>
                    </a:lnT>
                    <a:lnB w="6350" cap="flat" cmpd="sng" algn="ctr">
                      <a:solidFill>
                        <a:srgbClr val="03020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9F9FA"/>
                          </a:solidFill>
                          <a:latin typeface="Inter"/>
                        </a:rPr>
                        <a:t>Details</a:t>
                      </a:r>
                    </a:p>
                  </a:txBody>
                  <a:tcPr anchor="ctr">
                    <a:solidFill>
                      <a:srgbClr val="030205"/>
                    </a:solidFill>
                    <a:lnL w="6350" cap="flat" cmpd="sng" algn="ctr">
                      <a:solidFill>
                        <a:srgbClr val="030205"/>
                      </a:solidFill>
                      <a:prstDash val="solid"/>
                    </a:lnL>
                    <a:lnR w="6350" cap="flat" cmpd="sng" algn="ctr">
                      <a:solidFill>
                        <a:srgbClr val="030205"/>
                      </a:solidFill>
                      <a:prstDash val="solid"/>
                    </a:lnR>
                    <a:lnT w="6350" cap="flat" cmpd="sng" algn="ctr">
                      <a:solidFill>
                        <a:srgbClr val="030205"/>
                      </a:solidFill>
                      <a:prstDash val="solid"/>
                    </a:lnT>
                    <a:lnB w="6350" cap="flat" cmpd="sng" algn="ctr">
                      <a:solidFill>
                        <a:srgbClr val="03020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9F9FA"/>
                          </a:solidFill>
                          <a:latin typeface="Inter"/>
                        </a:rPr>
                        <a:t>Estimated cost</a:t>
                      </a:r>
                    </a:p>
                  </a:txBody>
                  <a:tcPr anchor="ctr">
                    <a:solidFill>
                      <a:srgbClr val="030205"/>
                    </a:solidFill>
                    <a:lnL w="6350" cap="flat" cmpd="sng" algn="ctr">
                      <a:solidFill>
                        <a:srgbClr val="030205"/>
                      </a:solidFill>
                      <a:prstDash val="solid"/>
                    </a:lnL>
                    <a:lnR w="6350" cap="flat" cmpd="sng" algn="ctr">
                      <a:solidFill>
                        <a:srgbClr val="030205"/>
                      </a:solidFill>
                      <a:prstDash val="solid"/>
                    </a:lnR>
                    <a:lnT w="6350" cap="flat" cmpd="sng" algn="ctr">
                      <a:solidFill>
                        <a:srgbClr val="030205"/>
                      </a:solidFill>
                      <a:prstDash val="solid"/>
                    </a:lnT>
                    <a:lnB w="6350" cap="flat" cmpd="sng" algn="ctr">
                      <a:solidFill>
                        <a:srgbClr val="030205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30205"/>
                          </a:solidFill>
                          <a:latin typeface="Inter"/>
                        </a:rPr>
                        <a:t>Posters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Tabloid 11×17, unaltered Saitsa Clubs logo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$10.00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30205"/>
                          </a:solidFill>
                          <a:latin typeface="Inter"/>
                        </a:rPr>
                        <a:t>Misc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Tape, markers, unexpected small costs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$5.00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Continental Lite (30)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Sat kickoff @ $10 pp + 18% + GST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$372.00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Lunch boxes (30)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Sat lunch @ $16 pp loaded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$595.00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Philippines (30)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Sat dinner @ $29 pp loaded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$1,078.00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Energy bars (30)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Midnight @ $6 pp loaded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$223.00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Signature Breakfast (30)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Sun @ $12 pp loaded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$446.00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Ziva Basic (30)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CAD $28 / attendee, one month then cancel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$840.00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After-hours security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Placeholder until Security quote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$350.00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Name tags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Printed club templates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$30.00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Power strips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Overnight laptop load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$50.00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First aid + buffer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Overnight kit + dietary / minimums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$101.00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91337"/>
                          </a:solidFill>
                          <a:latin typeface="Inter"/>
                        </a:rPr>
                        <a:t>TOTAL</a:t>
                      </a:r>
                    </a:p>
                  </a:txBody>
                  <a:tcPr anchor="ctr">
                    <a:solidFill>
                      <a:srgbClr val="FAD6E8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91337"/>
                          </a:solidFill>
                          <a:latin typeface="Inter"/>
                        </a:rPr>
                        <a:t>UI $2,050 + Game Dev $2,050. Do not spend before approval.</a:t>
                      </a:r>
                    </a:p>
                  </a:txBody>
                  <a:tcPr anchor="ctr">
                    <a:solidFill>
                      <a:srgbClr val="FAD6E8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591337"/>
                          </a:solidFill>
                          <a:latin typeface="Inter"/>
                        </a:rPr>
                        <a:t>$4,100.00</a:t>
                      </a:r>
                    </a:p>
                  </a:txBody>
                  <a:tcPr anchor="ctr">
                    <a:solidFill>
                      <a:srgbClr val="FAD6E8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9619488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205"/>
                </a:solidFill>
                <a:latin typeface="Inter"/>
              </a:rPr>
              <a:t>Primary Event Organizer — [NAME AND EXECUTIVE ROLE]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784080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5A5A"/>
                </a:solidFill>
                <a:latin typeface="Inter"/>
              </a:rPr>
              <a:t>Signature: ____________________     Date: ______________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7269480" cy="6923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0222992"/>
            <a:ext cx="7562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91337"/>
                </a:solidFill>
                <a:latin typeface="JetBrains Mono"/>
              </a:rPr>
              <a:t>07</a:t>
            </a:r>
          </a:p>
        </p:txBody>
      </p:sp>
      <p:pic>
        <p:nvPicPr>
          <p:cNvPr id="5" name="Picture 4" descr="jellyfish-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452" y="10314432"/>
            <a:ext cx="329184" cy="407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24128"/>
            <a:ext cx="6556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30205"/>
                </a:solidFill>
                <a:latin typeface="Inter"/>
              </a:rPr>
              <a:t>Budget B — $5,000 for 50 people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5562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  <a:latin typeface="Inter"/>
              </a:rPr>
              <a:t>Ceiling. Same five drops but pizza dinner ($6) instead of Philippines ($29) — the $29 buffet at 50 people is $1,797 loaded and does not fit with Ziva Basic. Split $2,500 / $2,500. Do not go above 50.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93392"/>
          <a:ext cx="6556247" cy="5998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874"/>
                <a:gridCol w="3278124"/>
                <a:gridCol w="1311249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9F9FA"/>
                          </a:solidFill>
                          <a:latin typeface="Inter"/>
                        </a:rPr>
                        <a:t>Item</a:t>
                      </a:r>
                    </a:p>
                  </a:txBody>
                  <a:tcPr anchor="ctr">
                    <a:solidFill>
                      <a:srgbClr val="030205"/>
                    </a:solidFill>
                    <a:lnL w="6350" cap="flat" cmpd="sng" algn="ctr">
                      <a:solidFill>
                        <a:srgbClr val="030205"/>
                      </a:solidFill>
                      <a:prstDash val="solid"/>
                    </a:lnL>
                    <a:lnR w="6350" cap="flat" cmpd="sng" algn="ctr">
                      <a:solidFill>
                        <a:srgbClr val="030205"/>
                      </a:solidFill>
                      <a:prstDash val="solid"/>
                    </a:lnR>
                    <a:lnT w="6350" cap="flat" cmpd="sng" algn="ctr">
                      <a:solidFill>
                        <a:srgbClr val="030205"/>
                      </a:solidFill>
                      <a:prstDash val="solid"/>
                    </a:lnT>
                    <a:lnB w="6350" cap="flat" cmpd="sng" algn="ctr">
                      <a:solidFill>
                        <a:srgbClr val="03020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9F9FA"/>
                          </a:solidFill>
                          <a:latin typeface="Inter"/>
                        </a:rPr>
                        <a:t>Details</a:t>
                      </a:r>
                    </a:p>
                  </a:txBody>
                  <a:tcPr anchor="ctr">
                    <a:solidFill>
                      <a:srgbClr val="030205"/>
                    </a:solidFill>
                    <a:lnL w="6350" cap="flat" cmpd="sng" algn="ctr">
                      <a:solidFill>
                        <a:srgbClr val="030205"/>
                      </a:solidFill>
                      <a:prstDash val="solid"/>
                    </a:lnL>
                    <a:lnR w="6350" cap="flat" cmpd="sng" algn="ctr">
                      <a:solidFill>
                        <a:srgbClr val="030205"/>
                      </a:solidFill>
                      <a:prstDash val="solid"/>
                    </a:lnR>
                    <a:lnT w="6350" cap="flat" cmpd="sng" algn="ctr">
                      <a:solidFill>
                        <a:srgbClr val="030205"/>
                      </a:solidFill>
                      <a:prstDash val="solid"/>
                    </a:lnT>
                    <a:lnB w="6350" cap="flat" cmpd="sng" algn="ctr">
                      <a:solidFill>
                        <a:srgbClr val="03020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9F9FA"/>
                          </a:solidFill>
                          <a:latin typeface="Inter"/>
                        </a:rPr>
                        <a:t>Estimated cost</a:t>
                      </a:r>
                    </a:p>
                  </a:txBody>
                  <a:tcPr anchor="ctr">
                    <a:solidFill>
                      <a:srgbClr val="030205"/>
                    </a:solidFill>
                    <a:lnL w="6350" cap="flat" cmpd="sng" algn="ctr">
                      <a:solidFill>
                        <a:srgbClr val="030205"/>
                      </a:solidFill>
                      <a:prstDash val="solid"/>
                    </a:lnL>
                    <a:lnR w="6350" cap="flat" cmpd="sng" algn="ctr">
                      <a:solidFill>
                        <a:srgbClr val="030205"/>
                      </a:solidFill>
                      <a:prstDash val="solid"/>
                    </a:lnR>
                    <a:lnT w="6350" cap="flat" cmpd="sng" algn="ctr">
                      <a:solidFill>
                        <a:srgbClr val="030205"/>
                      </a:solidFill>
                      <a:prstDash val="solid"/>
                    </a:lnT>
                    <a:lnB w="6350" cap="flat" cmpd="sng" algn="ctr">
                      <a:solidFill>
                        <a:srgbClr val="030205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30205"/>
                          </a:solidFill>
                          <a:latin typeface="Inter"/>
                        </a:rPr>
                        <a:t>Posters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Tabloid 11×17, unaltered Saitsa Clubs logo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$10.00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30205"/>
                          </a:solidFill>
                          <a:latin typeface="Inter"/>
                        </a:rPr>
                        <a:t>Misc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Tape, markers, unexpected small costs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$5.00</a:t>
                      </a:r>
                    </a:p>
                  </a:txBody>
                  <a:tcPr anchor="ctr">
                    <a:solidFill>
                      <a:srgbClr val="E8F6C4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Continental Lite (50)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Sat kickoff @ $10 pp loaded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$620.00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Lunch boxes (50)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Sat lunch @ $16 pp loaded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$991.00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Pizza (50)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Sat dinner @ $6 pp loaded (2 slices)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$372.00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Energy bars (50)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Midnight @ $6 pp loaded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$372.00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Signature Breakfast (50)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Sun @ $12 pp loaded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$743.00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Ziva Basic (50)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CAD $28 / attendee, one month then cancel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$1,400.00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After-hours security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Placeholder until Security quote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$250.00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Name tags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Printed club templates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$50.00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Power strips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Higher laptop load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$60.00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First aid + buffer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Overnight kit + dietary / minimums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30205"/>
                          </a:solidFill>
                          <a:latin typeface="Inter"/>
                        </a:rPr>
                        <a:t>$127.00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91337"/>
                          </a:solidFill>
                          <a:latin typeface="Inter"/>
                        </a:rPr>
                        <a:t>TOTAL</a:t>
                      </a:r>
                    </a:p>
                  </a:txBody>
                  <a:tcPr anchor="ctr">
                    <a:solidFill>
                      <a:srgbClr val="FAD6E8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91337"/>
                          </a:solidFill>
                          <a:latin typeface="Inter"/>
                        </a:rPr>
                        <a:t>UI $2,500 + Game Dev $2,500. Do not spend before approval.</a:t>
                      </a:r>
                    </a:p>
                  </a:txBody>
                  <a:tcPr anchor="ctr">
                    <a:solidFill>
                      <a:srgbClr val="FAD6E8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591337"/>
                          </a:solidFill>
                          <a:latin typeface="Inter"/>
                        </a:rPr>
                        <a:t>$5,000.00</a:t>
                      </a:r>
                    </a:p>
                  </a:txBody>
                  <a:tcPr anchor="ctr">
                    <a:solidFill>
                      <a:srgbClr val="FAD6E8"/>
                    </a:solidFill>
                    <a:lnL w="6350" cap="flat" cmpd="sng" algn="ctr">
                      <a:solidFill>
                        <a:srgbClr val="D7D7DA"/>
                      </a:solidFill>
                      <a:prstDash val="solid"/>
                    </a:lnL>
                    <a:lnR w="6350" cap="flat" cmpd="sng" algn="ctr">
                      <a:solidFill>
                        <a:srgbClr val="D7D7DA"/>
                      </a:solidFill>
                      <a:prstDash val="solid"/>
                    </a:lnR>
                    <a:lnT w="6350" cap="flat" cmpd="sng" algn="ctr">
                      <a:solidFill>
                        <a:srgbClr val="D7D7DA"/>
                      </a:solidFill>
                      <a:prstDash val="solid"/>
                    </a:lnT>
                    <a:lnB w="6350" cap="flat" cmpd="sng" algn="ctr">
                      <a:solidFill>
                        <a:srgbClr val="D7D7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9619488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205"/>
                </a:solidFill>
                <a:latin typeface="Inter"/>
              </a:rPr>
              <a:t>Primary Event Organizer — [NAME AND EXECUTIVE ROLE]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784080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5A5A"/>
                </a:solidFill>
                <a:latin typeface="Inter"/>
              </a:rPr>
              <a:t>Signature: ____________________     Date: ______________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7269480" cy="6923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0222992"/>
            <a:ext cx="7562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91337"/>
                </a:solidFill>
                <a:latin typeface="JetBrains Mono"/>
              </a:rPr>
              <a:t>08</a:t>
            </a:r>
          </a:p>
        </p:txBody>
      </p:sp>
      <p:pic>
        <p:nvPicPr>
          <p:cNvPr id="5" name="Picture 4" descr="jellyfish-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452" y="10314432"/>
            <a:ext cx="329184" cy="407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24128"/>
            <a:ext cx="6556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30205"/>
                </a:solidFill>
                <a:latin typeface="Inter"/>
              </a:rPr>
              <a:t>Quoted menu — breakfast &amp; lunch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6556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  <a:latin typeface="Inter"/>
              </a:rPr>
              <a:t>Attached Curated Catering cards. Base prices; add 18% + GST (× 1.239).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9846" y="1755648"/>
            <a:ext cx="5862395" cy="3246120"/>
          </a:xfrm>
          <a:prstGeom prst="rect">
            <a:avLst/>
          </a:prstGeom>
          <a:noFill/>
          <a:ln w="6350">
            <a:solidFill>
              <a:srgbClr val="D7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uffet-breakf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846" y="1755648"/>
            <a:ext cx="5862395" cy="3246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047488"/>
            <a:ext cx="6556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A5A5A"/>
                </a:solidFill>
                <a:latin typeface="Inter"/>
              </a:rPr>
              <a:t>Continental Lite $10 (Sat kickoff) · Signature Breakfast Lite $12 (Sun 8:00). Min 15. Coffee included.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57917" y="5413248"/>
            <a:ext cx="4646253" cy="3246120"/>
          </a:xfrm>
          <a:prstGeom prst="rect">
            <a:avLst/>
          </a:prstGeom>
          <a:noFill/>
          <a:ln w="6350">
            <a:solidFill>
              <a:srgbClr val="D7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unch-box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917" y="5413248"/>
            <a:ext cx="4646253" cy="3246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8705088"/>
            <a:ext cx="6556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A5A5A"/>
                </a:solidFill>
                <a:latin typeface="Inter"/>
              </a:rPr>
              <a:t>Lunch boxes $16. Min 5. 21–50 guests = 2 protein choices. Sat 12:30.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9619488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205"/>
                </a:solidFill>
                <a:latin typeface="Inter"/>
              </a:rPr>
              <a:t>Primary Event Organizer — [NAME AND EXECUTIVE ROLE]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9784080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5A5A"/>
                </a:solidFill>
                <a:latin typeface="Inter"/>
              </a:rPr>
              <a:t>Signature: ____________________     Date: ______________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7269480" cy="6923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0222992"/>
            <a:ext cx="7562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91337"/>
                </a:solidFill>
                <a:latin typeface="JetBrains Mono"/>
              </a:rPr>
              <a:t>09</a:t>
            </a:r>
          </a:p>
        </p:txBody>
      </p:sp>
      <p:pic>
        <p:nvPicPr>
          <p:cNvPr id="5" name="Picture 4" descr="jellyfish-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452" y="10314432"/>
            <a:ext cx="329184" cy="407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24128"/>
            <a:ext cx="6556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30205"/>
                </a:solidFill>
                <a:latin typeface="Inter"/>
              </a:rPr>
              <a:t>Quoted menu — dinner &amp; midnight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6556248" cy="1832726"/>
          </a:xfrm>
          <a:prstGeom prst="rect">
            <a:avLst/>
          </a:prstGeom>
          <a:noFill/>
          <a:ln w="6350">
            <a:solidFill>
              <a:srgbClr val="D7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ste-philippines-moroc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44752"/>
            <a:ext cx="6556248" cy="18327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323198"/>
            <a:ext cx="6556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A5A5A"/>
                </a:solidFill>
                <a:latin typeface="Inter"/>
              </a:rPr>
              <a:t>Philippines $29 (30-person dinner) · Morocco $30 (swap). Min 15 guests.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0435" y="3688958"/>
            <a:ext cx="6221216" cy="1783080"/>
          </a:xfrm>
          <a:prstGeom prst="rect">
            <a:avLst/>
          </a:prstGeom>
          <a:noFill/>
          <a:ln w="6350">
            <a:solidFill>
              <a:srgbClr val="D7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izz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35" y="3688958"/>
            <a:ext cx="6221216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517758"/>
            <a:ext cx="6556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A5A5A"/>
                </a:solidFill>
                <a:latin typeface="Inter"/>
              </a:rPr>
              <a:t>Pizza $6 / 2 slices. 50-person ceiling dinner. Max four flavours.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1611" y="5883518"/>
            <a:ext cx="3698865" cy="1325880"/>
          </a:xfrm>
          <a:prstGeom prst="rect">
            <a:avLst/>
          </a:prstGeom>
          <a:noFill/>
          <a:ln w="6350">
            <a:solidFill>
              <a:srgbClr val="D7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nergy-ba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1611" y="5883518"/>
            <a:ext cx="3698865" cy="1325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7255118"/>
            <a:ext cx="6556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A5A5A"/>
                </a:solidFill>
                <a:latin typeface="Inter"/>
              </a:rPr>
              <a:t>Energy bars &amp; bites $6 / 3 pieces. Midnight drop. Min 5 guests.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76481" y="7620878"/>
            <a:ext cx="3609125" cy="1097280"/>
          </a:xfrm>
          <a:prstGeom prst="rect">
            <a:avLst/>
          </a:prstGeom>
          <a:noFill/>
          <a:ln w="6350">
            <a:solidFill>
              <a:srgbClr val="D7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ides-add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6481" y="7620878"/>
            <a:ext cx="3609125" cy="1097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2920" y="8763878"/>
            <a:ext cx="6556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A5A5A"/>
                </a:solidFill>
                <a:latin typeface="Inter"/>
              </a:rPr>
              <a:t>Sides &amp; add-ons — not used in these budgets.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9619488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205"/>
                </a:solidFill>
                <a:latin typeface="Inter"/>
              </a:rPr>
              <a:t>Primary Event Organizer — [NAME AND EXECUTIVE ROLE]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9784080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5A5A"/>
                </a:solidFill>
                <a:latin typeface="Inter"/>
              </a:rPr>
              <a:t>Signature: ____________________     Date: ______________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7269480" cy="6923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0222992"/>
            <a:ext cx="7562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91337"/>
                </a:solidFill>
                <a:latin typeface="JetBrains Mono"/>
              </a:rPr>
              <a:t>10</a:t>
            </a:r>
          </a:p>
        </p:txBody>
      </p:sp>
      <p:pic>
        <p:nvPicPr>
          <p:cNvPr id="5" name="Picture 4" descr="jellyfish-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452" y="10314432"/>
            <a:ext cx="329184" cy="407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24128"/>
            <a:ext cx="6556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30205"/>
                </a:solidFill>
                <a:latin typeface="Inter"/>
              </a:rPr>
              <a:t>Quoted fees, Ziva, FX</a:t>
            </a:r>
          </a:p>
        </p:txBody>
      </p:sp>
      <p:sp>
        <p:nvSpPr>
          <p:cNvPr id="7" name="Rectangle 6"/>
          <p:cNvSpPr/>
          <p:nvPr/>
        </p:nvSpPr>
        <p:spPr>
          <a:xfrm>
            <a:off x="988123" y="1417320"/>
            <a:ext cx="5585841" cy="2880360"/>
          </a:xfrm>
          <a:prstGeom prst="rect">
            <a:avLst/>
          </a:prstGeom>
          <a:noFill/>
          <a:ln w="6350">
            <a:solidFill>
              <a:srgbClr val="D7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posit-fe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123" y="1417320"/>
            <a:ext cx="5585841" cy="2880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343400"/>
            <a:ext cx="6556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A5A5A"/>
                </a:solidFill>
                <a:latin typeface="Inter"/>
              </a:rPr>
              <a:t>18% service + 5% GST on all food. 20% / 50% deposits after grant approval. Staff $30/hr not budgeted.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67598" y="4709160"/>
            <a:ext cx="2826890" cy="2606040"/>
          </a:xfrm>
          <a:prstGeom prst="rect">
            <a:avLst/>
          </a:prstGeom>
          <a:noFill/>
          <a:ln w="6350">
            <a:solidFill>
              <a:srgbClr val="D7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ziva-usage-limi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7598" y="4709160"/>
            <a:ext cx="2826890" cy="2606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7360920"/>
            <a:ext cx="6556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A5A5A"/>
                </a:solidFill>
                <a:latin typeface="Inter"/>
              </a:rPr>
              <a:t>Ziva Basic $20 USD / $60 usage — the paid SKU for every attendee. Hobby $3 is too small for 24 hours.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3113" y="7726680"/>
            <a:ext cx="3815861" cy="1417320"/>
          </a:xfrm>
          <a:prstGeom prst="rect">
            <a:avLst/>
          </a:prstGeom>
          <a:noFill/>
          <a:ln w="6350">
            <a:solidFill>
              <a:srgbClr val="D7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oc-usd-c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113" y="7726680"/>
            <a:ext cx="3815861" cy="1417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9189720"/>
            <a:ext cx="6556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A5A5A"/>
                </a:solidFill>
                <a:latin typeface="Inter"/>
              </a:rPr>
              <a:t>BoC FXUSDCAD 18 Sep 2026 = 1.4002 → USD $20 = CAD $28.00.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9619488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205"/>
                </a:solidFill>
                <a:latin typeface="Inter"/>
              </a:rPr>
              <a:t>Primary Event Organizer — [NAME AND EXECUTIVE ROLE]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9784080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5A5A"/>
                </a:solidFill>
                <a:latin typeface="Inter"/>
              </a:rPr>
              <a:t>Signature: ____________________     Date: ______________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73152"/>
            <a:ext cx="7269480" cy="6923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0222992"/>
            <a:ext cx="7562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91337"/>
                </a:solidFill>
                <a:latin typeface="JetBrains Mono"/>
              </a:rPr>
              <a:t>11</a:t>
            </a:r>
          </a:p>
        </p:txBody>
      </p:sp>
      <p:pic>
        <p:nvPicPr>
          <p:cNvPr id="5" name="Picture 4" descr="jellyfish-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452" y="10314432"/>
            <a:ext cx="329184" cy="407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24128"/>
            <a:ext cx="6556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30205"/>
                </a:solidFill>
                <a:latin typeface="Inter"/>
              </a:rPr>
              <a:t>Logistics, Risk &amp;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55624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30205"/>
                </a:solidFill>
                <a:latin typeface="Inter"/>
              </a:defRPr>
            </a:pPr>
            <a:r>
              <a:t>•  Room booking coordinated exclusively by the SECC. Game Dev logistics lead files through them.</a:t>
            </a:r>
          </a:p>
          <a:p>
            <a:pPr>
              <a:spcAft>
                <a:spcPts val="700"/>
              </a:spcAft>
              <a:defRPr sz="1200">
                <a:solidFill>
                  <a:srgbClr val="030205"/>
                </a:solidFill>
                <a:latin typeface="Inter"/>
              </a:defRPr>
            </a:pPr>
            <a:r>
              <a:t>•  Risk: medium. Indoor, no alcohol, no sport — after-hours, fatigue, food, laptops. Written exec roster; PEO or deputy always on site.</a:t>
            </a:r>
          </a:p>
          <a:p>
            <a:pPr>
              <a:spcAft>
                <a:spcPts val="700"/>
              </a:spcAft>
              <a:defRPr sz="1200">
                <a:solidFill>
                  <a:srgbClr val="030205"/>
                </a:solidFill>
                <a:latin typeface="Inter"/>
              </a:defRPr>
            </a:pPr>
            <a:r>
              <a:t>•  After-hours with SECC and Campus Security. Occupants staying after facility hours listed. Booked work session, not an unsanctioned sleepover. Quiet hours 01:00–06:00.</a:t>
            </a:r>
          </a:p>
          <a:p>
            <a:pPr>
              <a:spcAft>
                <a:spcPts val="700"/>
              </a:spcAft>
              <a:defRPr sz="1200">
                <a:solidFill>
                  <a:srgbClr val="030205"/>
                </a:solidFill>
                <a:latin typeface="Inter"/>
              </a:defRPr>
            </a:pPr>
            <a:r>
              <a:t>•  Food only through Curated Catering via SECC, using the attached campus menu cards. Dietary needs on RSVP. Drops 9:30, 12:30, 18:30, 00:00, 08:00.</a:t>
            </a:r>
          </a:p>
          <a:p>
            <a:pPr>
              <a:spcAft>
                <a:spcPts val="700"/>
              </a:spcAft>
              <a:defRPr sz="1200">
                <a:solidFill>
                  <a:srgbClr val="030205"/>
                </a:solidFill>
                <a:latin typeface="Inter"/>
              </a:defRPr>
            </a:pPr>
            <a:r>
              <a:t>•  A/V returned after Sunday teardown (~13:00). Attendance list signed. Posters tabloid 11×17, Saitsa Clubs logo unaltered, $10 built-in.</a:t>
            </a:r>
          </a:p>
          <a:p>
            <a:pPr>
              <a:spcAft>
                <a:spcPts val="700"/>
              </a:spcAft>
              <a:defRPr sz="1200">
                <a:solidFill>
                  <a:srgbClr val="030205"/>
                </a:solidFill>
                <a:latin typeface="Inter"/>
              </a:defRPr>
            </a:pPr>
            <a:r>
              <a:t>•  Disclose the 50/50 sister-club contribution. No spend before approval. Unused grant (including unspent security) is reclaimed.</a:t>
            </a:r>
          </a:p>
          <a:p>
            <a:pPr>
              <a:spcAft>
                <a:spcPts val="700"/>
              </a:spcAft>
              <a:defRPr sz="1200">
                <a:solidFill>
                  <a:srgbClr val="030205"/>
                </a:solidFill>
                <a:latin typeface="Inter"/>
              </a:defRPr>
            </a:pPr>
            <a:r>
              <a:t>•  Ziva Basic is one month of event access, then cancelled — not a member gift. Do not buy Cursor for the room.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230368"/>
            <a:ext cx="6556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30205"/>
                </a:solidFill>
                <a:latin typeface="Inter"/>
              </a:rPr>
              <a:t>Promotion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59552"/>
            <a:ext cx="65562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30205"/>
                </a:solidFill>
                <a:latin typeface="Inter"/>
              </a:defRPr>
            </a:pPr>
            <a:r>
              <a:t>•  Posters on Saitsa General Poster Boards (approved submission first).</a:t>
            </a:r>
          </a:p>
          <a:p>
            <a:pPr>
              <a:spcAft>
                <a:spcPts val="700"/>
              </a:spcAft>
              <a:defRPr sz="1200">
                <a:solidFill>
                  <a:srgbClr val="030205"/>
                </a:solidFill>
                <a:latin typeface="Inter"/>
              </a:defRPr>
            </a:pPr>
            <a:r>
              <a:t>•  Both clubs’ Discord, Instagram, Teams, and Rubric RSVP. Cap 50; waitlist after that.</a:t>
            </a:r>
          </a:p>
          <a:p>
            <a:pPr>
              <a:spcAft>
                <a:spcPts val="700"/>
              </a:spcAft>
              <a:defRPr sz="1200">
                <a:solidFill>
                  <a:srgbClr val="030205"/>
                </a:solidFill>
                <a:latin typeface="Inter"/>
              </a:defRPr>
            </a:pPr>
            <a:r>
              <a:t>•  Clubs Fall Expo / Showcase (13–14 October 2026) if the jam is after it.</a:t>
            </a:r>
          </a:p>
          <a:p>
            <a:pPr>
              <a:spcAft>
                <a:spcPts val="700"/>
              </a:spcAft>
              <a:defRPr sz="1200">
                <a:solidFill>
                  <a:srgbClr val="030205"/>
                </a:solidFill>
                <a:latin typeface="Inter"/>
              </a:defRPr>
            </a:pPr>
            <a:r>
              <a:t>•  Pitch: Godot + Ziva Basic, 24 hours, doors Saturday 9:00, meals included, beginners welcome.</a:t>
            </a:r>
          </a:p>
        </p:txBody>
      </p:sp>
      <p:pic>
        <p:nvPicPr>
          <p:cNvPr id="10" name="Picture 9" descr="saitsa-club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608" y="8183879"/>
            <a:ext cx="1051560" cy="3774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9619488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205"/>
                </a:solidFill>
                <a:latin typeface="Inter"/>
              </a:rPr>
              <a:t>Primary Event Organizer — VP, Unnatural Intelligence (Pierre Tchio)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9784080"/>
            <a:ext cx="6556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5A5A"/>
                </a:solidFill>
                <a:latin typeface="Inter"/>
              </a:rPr>
              <a:t>Signature: ____________________     Date: 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24-Hour AI Game Jam — Event Proposal</dc:title>
  <dc:subject>Saitsa student club event proposal — Fall 2026</dc:subject>
  <dc:creator>Unnatural Intelligence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